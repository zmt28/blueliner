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215900"/>
            <a:ext cx="113030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EAF2F6"/>
                </a:solidFill>
                <a:latin typeface="Poppins"/>
              </a:rPr>
              <a:t>Two Agents, One Trustworthy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584200"/>
            <a:ext cx="11303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9DB6C2"/>
                </a:solidFill>
                <a:latin typeface="Poppins"/>
              </a:rPr>
              <a:t>Two agents share one deterministic, guardrailed spine.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95250" y="9525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2500" y="9525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5250" y="9525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SHARED TRUSTWORTHY SPINE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0" y="9525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DATA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00" y="1333500"/>
            <a:ext cx="1460500" cy="762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95C5D9"/>
                </a:solidFill>
                <a:latin typeface="Poppins"/>
              </a:rPr>
              <a:t>Trip Planner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“where to fish?”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500" y="2984500"/>
            <a:ext cx="1460500" cy="762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7A3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878DA"/>
                </a:solidFill>
                <a:latin typeface="Poppins"/>
              </a:rPr>
              <a:t>Prospector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“find new trout water?”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333500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95C5D9"/>
                </a:solidFill>
                <a:latin typeface="Poppins"/>
              </a:rPr>
              <a:t>Trip Planner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hand-written tool loop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AF2F6"/>
                </a:solidFill>
                <a:latin typeface="Roboto Mono"/>
              </a:rPr>
              <a:t>Haiku retrieval → Sonnet ranking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984500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7A3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A878DA"/>
                </a:solidFill>
                <a:latin typeface="Poppins"/>
              </a:rPr>
              <a:t>Prospector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LangGraph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EAF2F6"/>
                </a:solidFill>
                <a:latin typeface="Poppins"/>
              </a:rPr>
              <a:t>branching · human-in-the-loop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0" y="1143000"/>
            <a:ext cx="2730500" cy="4381500"/>
          </a:xfrm>
          <a:prstGeom prst="roundRect">
            <a:avLst>
              <a:gd name="adj" fmla="val 4000"/>
            </a:avLst>
          </a:prstGeom>
          <a:solidFill>
            <a:srgbClr val="0E3144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07000" y="1397000"/>
            <a:ext cx="2476500" cy="5207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EAF2F6"/>
                </a:solidFill>
                <a:latin typeface="Poppins"/>
              </a:rPr>
              <a:t>MCP tool belt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1587500"/>
            <a:ext cx="1066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A8C8"/>
                </a:solidFill>
                <a:latin typeface="Poppins"/>
              </a:rPr>
              <a:t>retrieval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7000" y="2159000"/>
            <a:ext cx="2476500" cy="584200"/>
          </a:xfrm>
          <a:prstGeom prst="roundRect">
            <a:avLst>
              <a:gd name="adj" fmla="val 8000"/>
            </a:avLst>
          </a:prstGeom>
          <a:solidFill>
            <a:srgbClr val="143A50"/>
          </a:solidFill>
          <a:ln w="3810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EAF2F6"/>
                </a:solidFill>
                <a:latin typeface="Poppins"/>
              </a:rPr>
              <a:t>Deterministic scorer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500" y="2381250"/>
            <a:ext cx="1066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7FBE8E"/>
                </a:solidFill>
                <a:latin typeface="Poppins"/>
              </a:rPr>
              <a:t>the oracle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7000" y="2984500"/>
            <a:ext cx="2476500" cy="5207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B78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EAF2F6"/>
                </a:solidFill>
                <a:latin typeface="Poppins"/>
              </a:rPr>
              <a:t>Grounding contract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7000" y="3683000"/>
            <a:ext cx="2476500" cy="5842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B34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EAF2F6"/>
                </a:solidFill>
                <a:latin typeface="Poppins"/>
              </a:rPr>
              <a:t>Guardrail veto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0500" y="3905250"/>
            <a:ext cx="1066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B3473B"/>
                </a:solidFill>
                <a:latin typeface="Poppins"/>
              </a:rPr>
              <a:t>rules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000" y="4508500"/>
            <a:ext cx="24765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95C5D9"/>
                </a:solidFill>
                <a:latin typeface="Poppins"/>
              </a:rPr>
              <a:t>the model advises · the rules decide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45250" y="1917700"/>
            <a:ext cx="0" cy="241300"/>
          </a:xfrm>
          <a:prstGeom prst="line">
            <a:avLst/>
          </a:prstGeom>
          <a:ln w="25400">
            <a:solidFill>
              <a:srgbClr val="9DB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45250" y="2743200"/>
            <a:ext cx="0" cy="241300"/>
          </a:xfrm>
          <a:prstGeom prst="line">
            <a:avLst/>
          </a:prstGeom>
          <a:ln w="25400">
            <a:solidFill>
              <a:srgbClr val="9DB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45250" y="3505200"/>
            <a:ext cx="0" cy="177800"/>
          </a:xfrm>
          <a:prstGeom prst="line">
            <a:avLst/>
          </a:prstGeom>
          <a:ln w="25400">
            <a:solidFill>
              <a:srgbClr val="9DB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28000" y="13335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AF2F6"/>
                </a:solidFill>
                <a:latin typeface="Poppins"/>
              </a:rPr>
              <a:t>USGS NWIS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9500" y="13335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AF2F6"/>
                </a:solidFill>
                <a:latin typeface="Poppins"/>
              </a:rPr>
              <a:t>USGS NLDI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8000" y="19050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AF2F6"/>
                </a:solidFill>
                <a:latin typeface="Poppins"/>
              </a:rPr>
              <a:t>NOAA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9500" y="19050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AF2F6"/>
                </a:solidFill>
                <a:latin typeface="Poppins"/>
              </a:rPr>
              <a:t>State ArcGIS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8000" y="24765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AF2F6"/>
                </a:solidFill>
                <a:latin typeface="Poppins"/>
              </a:rPr>
              <a:t>PAD-US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9500" y="24765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AF2F6"/>
                </a:solidFill>
                <a:latin typeface="Poppins"/>
              </a:rPr>
              <a:t>Postgres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696200" y="1562100"/>
            <a:ext cx="431800" cy="120650"/>
          </a:xfrm>
          <a:prstGeom prst="line">
            <a:avLst/>
          </a:prstGeom>
          <a:ln w="27940">
            <a:solidFill>
              <a:srgbClr val="5BA8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239000" y="1600200"/>
            <a:ext cx="571500" cy="1143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5C5D9"/>
                </a:solidFill>
                <a:latin typeface="Poppins"/>
              </a:rPr>
              <a:t>fetch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0" y="3035300"/>
            <a:ext cx="1905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OUTPUT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8000" y="3213100"/>
            <a:ext cx="1746250" cy="762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>
                <a:solidFill>
                  <a:srgbClr val="7FBE8E"/>
                </a:solidFill>
                <a:latin typeface="Poppins"/>
              </a:rPr>
              <a:t>$0.02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per 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01250" y="3213100"/>
            <a:ext cx="1746250" cy="762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95C5D9"/>
                </a:solidFill>
                <a:latin typeface="Poppins"/>
              </a:rPr>
              <a:t>17–18 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latency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0" y="4064000"/>
            <a:ext cx="3619500" cy="254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DB6C2"/>
                </a:solidFill>
                <a:latin typeface="Poppins"/>
              </a:rPr>
              <a:t>→ ranked, grounded recommendations + guardrail verdicts, on the map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05000" y="1714500"/>
            <a:ext cx="368300" cy="0"/>
          </a:xfrm>
          <a:prstGeom prst="line">
            <a:avLst/>
          </a:prstGeom>
          <a:ln w="27940">
            <a:solidFill>
              <a:srgbClr val="5BA8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05000" y="3365500"/>
            <a:ext cx="368300" cy="0"/>
          </a:xfrm>
          <a:prstGeom prst="line">
            <a:avLst/>
          </a:prstGeom>
          <a:ln w="27940">
            <a:solidFill>
              <a:srgbClr val="7A3D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53000" y="1809750"/>
            <a:ext cx="114300" cy="95250"/>
          </a:xfrm>
          <a:prstGeom prst="line">
            <a:avLst/>
          </a:prstGeom>
          <a:ln w="27940">
            <a:solidFill>
              <a:srgbClr val="5BA8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953000" y="2984500"/>
            <a:ext cx="114300" cy="349250"/>
          </a:xfrm>
          <a:prstGeom prst="line">
            <a:avLst/>
          </a:prstGeom>
          <a:ln w="27940">
            <a:solidFill>
              <a:srgbClr val="7A3D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810500" y="3594100"/>
            <a:ext cx="304800" cy="279400"/>
          </a:xfrm>
          <a:prstGeom prst="line">
            <a:avLst/>
          </a:prstGeom>
          <a:ln w="30480">
            <a:solidFill>
              <a:srgbClr val="B34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44500" y="5715000"/>
            <a:ext cx="11303000" cy="698500"/>
          </a:xfrm>
          <a:prstGeom prst="roundRect">
            <a:avLst>
              <a:gd name="adj" fmla="val 4000"/>
            </a:avLst>
          </a:prstGeom>
          <a:solidFill>
            <a:srgbClr val="0C2535"/>
          </a:solidFill>
          <a:ln w="20320">
            <a:solidFill>
              <a:srgbClr val="5BA8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4200" y="5867400"/>
            <a:ext cx="6350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95C5D9"/>
                </a:solidFill>
                <a:latin typeface="Poppins"/>
              </a:rPr>
              <a:t>OFFLINE EVAL HARNESS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70600"/>
            <a:ext cx="10795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The scorer here is the eval oracle — same code · validated on 25 planner scenarios + an honest discovery eval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5156200" y="2743200"/>
            <a:ext cx="25400" cy="2971800"/>
          </a:xfrm>
          <a:prstGeom prst="line">
            <a:avLst/>
          </a:prstGeom>
          <a:ln w="22860">
            <a:solidFill>
              <a:srgbClr val="7FBE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