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215900"/>
            <a:ext cx="113030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Two Agents, One Trustworthy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584200"/>
            <a:ext cx="11303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C2C0D6"/>
                </a:solidFill>
                <a:latin typeface="Poppins"/>
              </a:rPr>
              <a:t>Two agents share one deterministic, guardrailed spine.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9525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250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525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SHARED TRUSTWORTHY SPINE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0" y="9525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DATA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" y="1333500"/>
            <a:ext cx="1460500" cy="7620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7DD85"/>
                </a:solidFill>
                <a:latin typeface="Poppins"/>
              </a:rPr>
              <a:t>Trip Planner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“where to fish?”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500" y="2984500"/>
            <a:ext cx="1460500" cy="7620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A89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C5BEF2"/>
                </a:solidFill>
                <a:latin typeface="Poppins"/>
              </a:rPr>
              <a:t>Prospector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“find new trout water?”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33350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7DD85"/>
                </a:solidFill>
                <a:latin typeface="Poppins"/>
              </a:rPr>
              <a:t>Trip Planner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hand-written tool loop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Roboto Mono"/>
              </a:rPr>
              <a:t>Haiku retrieval → Sonnet ranking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98450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A89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C5BEF2"/>
                </a:solidFill>
                <a:latin typeface="Poppins"/>
              </a:rPr>
              <a:t>Prospector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LangGraph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oppins"/>
              </a:rPr>
              <a:t>branching · human-in-the-loop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0" y="1143000"/>
            <a:ext cx="2730500" cy="4381500"/>
          </a:xfrm>
          <a:prstGeom prst="roundRect">
            <a:avLst>
              <a:gd name="adj" fmla="val 4000"/>
            </a:avLst>
          </a:prstGeom>
          <a:solidFill>
            <a:srgbClr val="232239"/>
          </a:solidFill>
          <a:ln w="254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07000" y="1397000"/>
            <a:ext cx="2476500" cy="5207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MCP tool belt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1587500"/>
            <a:ext cx="1066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0C84C"/>
                </a:solidFill>
                <a:latin typeface="Poppins"/>
              </a:rPr>
              <a:t>retrieval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7000" y="2159000"/>
            <a:ext cx="2476500" cy="584200"/>
          </a:xfrm>
          <a:prstGeom prst="roundRect">
            <a:avLst>
              <a:gd name="adj" fmla="val 8000"/>
            </a:avLst>
          </a:prstGeom>
          <a:solidFill>
            <a:srgbClr val="454270"/>
          </a:solidFill>
          <a:ln w="3810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Deterministic scorer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500" y="2381250"/>
            <a:ext cx="1066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FB98C"/>
                </a:solidFill>
                <a:latin typeface="Poppins"/>
              </a:rPr>
              <a:t>the oracle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7000" y="2984500"/>
            <a:ext cx="2476500" cy="5207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Grounding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7000" y="3683000"/>
            <a:ext cx="2476500" cy="584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Guardrail veto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0500" y="3905250"/>
            <a:ext cx="1066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E0685C"/>
                </a:solidFill>
                <a:latin typeface="Poppins"/>
              </a:rPr>
              <a:t>rules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4508500"/>
            <a:ext cx="24765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7DD85"/>
                </a:solidFill>
                <a:latin typeface="Poppins"/>
              </a:rPr>
              <a:t>the model advises · the rules decide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45250" y="1917700"/>
            <a:ext cx="0" cy="241300"/>
          </a:xfrm>
          <a:prstGeom prst="line">
            <a:avLst/>
          </a:prstGeom>
          <a:ln w="25400">
            <a:solidFill>
              <a:srgbClr val="C2C0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45250" y="2743200"/>
            <a:ext cx="0" cy="241300"/>
          </a:xfrm>
          <a:prstGeom prst="line">
            <a:avLst/>
          </a:prstGeom>
          <a:ln w="25400">
            <a:solidFill>
              <a:srgbClr val="C2C0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5250" y="3505200"/>
            <a:ext cx="0" cy="177800"/>
          </a:xfrm>
          <a:prstGeom prst="line">
            <a:avLst/>
          </a:prstGeom>
          <a:ln w="25400">
            <a:solidFill>
              <a:srgbClr val="C2C0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28000" y="1333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1778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USGS NWIS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9500" y="1333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1778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USGS NLDI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8000" y="19050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1778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NOAA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9500" y="19050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1778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State ArcGIS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8000" y="2476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1778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PAD-US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9500" y="2476500"/>
            <a:ext cx="1587500" cy="457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1778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Postgres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696200" y="1562100"/>
            <a:ext cx="431800" cy="120650"/>
          </a:xfrm>
          <a:prstGeom prst="line">
            <a:avLst/>
          </a:prstGeom>
          <a:ln w="27940">
            <a:solidFill>
              <a:srgbClr val="F0C8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39000" y="1600200"/>
            <a:ext cx="571500" cy="1143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7DD85"/>
                </a:solidFill>
                <a:latin typeface="Poppins"/>
              </a:rPr>
              <a:t>fetch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3035300"/>
            <a:ext cx="19050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8000" y="3213100"/>
            <a:ext cx="1746250" cy="7620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5FB98C"/>
                </a:solidFill>
                <a:latin typeface="Poppins"/>
              </a:rPr>
              <a:t>$0.02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per 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01250" y="3213100"/>
            <a:ext cx="1746250" cy="7620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F7DD85"/>
                </a:solidFill>
                <a:latin typeface="Poppins"/>
              </a:rPr>
              <a:t>17–18 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latency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0" y="4064000"/>
            <a:ext cx="3619500" cy="254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2C0D6"/>
                </a:solidFill>
                <a:latin typeface="Poppins"/>
              </a:rPr>
              <a:t>→ ranked, grounded recommendations + guardrail verdicts, on the map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05000" y="1714500"/>
            <a:ext cx="355600" cy="0"/>
          </a:xfrm>
          <a:prstGeom prst="line">
            <a:avLst/>
          </a:prstGeom>
          <a:ln w="27940">
            <a:solidFill>
              <a:srgbClr val="F0C8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05000" y="3365500"/>
            <a:ext cx="355600" cy="0"/>
          </a:xfrm>
          <a:prstGeom prst="line">
            <a:avLst/>
          </a:prstGeom>
          <a:ln w="27940">
            <a:solidFill>
              <a:srgbClr val="A89F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53000" y="1809750"/>
            <a:ext cx="114300" cy="95250"/>
          </a:xfrm>
          <a:prstGeom prst="line">
            <a:avLst/>
          </a:prstGeom>
          <a:ln w="27940">
            <a:solidFill>
              <a:srgbClr val="F0C8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953000" y="2984500"/>
            <a:ext cx="114300" cy="349250"/>
          </a:xfrm>
          <a:prstGeom prst="line">
            <a:avLst/>
          </a:prstGeom>
          <a:ln w="27940">
            <a:solidFill>
              <a:srgbClr val="A89F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810500" y="3594100"/>
            <a:ext cx="304800" cy="279400"/>
          </a:xfrm>
          <a:prstGeom prst="line">
            <a:avLst/>
          </a:prstGeom>
          <a:ln w="30480">
            <a:solidFill>
              <a:srgbClr val="E068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44500" y="5715000"/>
            <a:ext cx="11303000" cy="698500"/>
          </a:xfrm>
          <a:prstGeom prst="roundRect">
            <a:avLst>
              <a:gd name="adj" fmla="val 4000"/>
            </a:avLst>
          </a:prstGeom>
          <a:solidFill>
            <a:srgbClr val="232239"/>
          </a:solidFill>
          <a:ln w="20320">
            <a:solidFill>
              <a:srgbClr val="F0C84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200" y="5867400"/>
            <a:ext cx="6350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7DD85"/>
                </a:solidFill>
                <a:latin typeface="Poppins"/>
              </a:rPr>
              <a:t>OFFLINE EVAL HARNESS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70600"/>
            <a:ext cx="10795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The scorer here is the eval oracle — same code · validated on 25 planner scenarios + an honest discovery eval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5156200" y="2743200"/>
            <a:ext cx="25400" cy="2971800"/>
          </a:xfrm>
          <a:prstGeom prst="line">
            <a:avLst/>
          </a:prstGeom>
          <a:ln w="22860">
            <a:solidFill>
              <a:srgbClr val="5FB98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228600"/>
            <a:ext cx="11303000" cy="317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Trip Planner: The v0 → v3 Staircase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609600"/>
            <a:ext cx="11303000" cy="254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C2C0D6"/>
                </a:solidFill>
                <a:latin typeface="Poppins"/>
              </a:rPr>
              <a:t>Grounding + guardrails turn a confident liar into a trustworthy assistant (25 scenarios)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0000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E0685C"/>
                </a:solidFill>
                <a:latin typeface="Poppins"/>
              </a:rPr>
              <a:t>v0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naive prompt, no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1875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A89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A89FE6"/>
                </a:solidFill>
                <a:latin typeface="Poppins"/>
              </a:rPr>
              <a:t>v1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tool-grounded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43750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54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F0C84C"/>
                </a:solidFill>
                <a:latin typeface="Poppins"/>
              </a:rPr>
              <a:t>v2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+ catch-log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625" y="1079500"/>
            <a:ext cx="2187575" cy="660400"/>
          </a:xfrm>
          <a:prstGeom prst="roundRect">
            <a:avLst>
              <a:gd name="adj" fmla="val 8000"/>
            </a:avLst>
          </a:prstGeom>
          <a:solidFill>
            <a:srgbClr val="454270"/>
          </a:solidFill>
          <a:ln w="3810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5FB98C"/>
                </a:solidFill>
                <a:latin typeface="Poppins"/>
              </a:rPr>
              <a:t>v3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oppins"/>
              </a:rPr>
              <a:t>+ guardrails &amp;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00" y="1879600"/>
            <a:ext cx="2032000" cy="9525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Poppins"/>
              </a:rPr>
              <a:t>Recommendation agreement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higher is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0000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E0685C"/>
                </a:solidFill>
                <a:latin typeface="Poppins"/>
              </a:rPr>
              <a:t>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1875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3750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5625" y="18796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330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500" y="2921000"/>
            <a:ext cx="2032000" cy="9525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Poppins"/>
              </a:rPr>
              <a:t>Safety violations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lower is better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0000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E0685C"/>
                </a:solidFill>
                <a:latin typeface="Poppins"/>
              </a:rPr>
              <a:t>16%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1875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3750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5625" y="29210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330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" y="3962400"/>
            <a:ext cx="2032000" cy="9525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Poppins"/>
              </a:rPr>
              <a:t>Hallucinated readings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lower is better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0000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E0685C"/>
                </a:solidFill>
                <a:latin typeface="Poppins"/>
              </a:rPr>
              <a:t>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1875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F0C84C"/>
                </a:solidFill>
                <a:latin typeface="Poppins"/>
              </a:rPr>
              <a:t>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43750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2032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F0C84C"/>
                </a:solidFill>
                <a:latin typeface="Poppins"/>
              </a:rPr>
              <a:t>12%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5625" y="3962400"/>
            <a:ext cx="2187575" cy="9525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330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500" y="6375400"/>
            <a:ext cx="11303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C2C0D6"/>
                </a:solidFill>
                <a:latin typeface="Poppins"/>
              </a:rPr>
              <a:t>v2’s hallucination bump (4% → 12%) is real — memory added unsourced numbers; the v3 grounding contract drove it to 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228600"/>
            <a:ext cx="11303000" cy="317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Engineering Judgment: Right Tool for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952500"/>
            <a:ext cx="11303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E8CAB"/>
                </a:solidFill>
                <a:latin typeface="Poppins"/>
              </a:rPr>
              <a:t>SAME v3 PLANNER · 25 SCENARIOS · ONLY ORCHESTRATION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270000"/>
            <a:ext cx="3556000" cy="2667000"/>
          </a:xfrm>
          <a:prstGeom prst="roundRect">
            <a:avLst>
              <a:gd name="adj" fmla="val 5000"/>
            </a:avLst>
          </a:prstGeom>
          <a:solidFill>
            <a:srgbClr val="38365C"/>
          </a:solidFill>
          <a:ln w="3048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409700"/>
            <a:ext cx="3556000" cy="279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F7DD85"/>
                </a:solidFill>
                <a:latin typeface="Poppins"/>
              </a:rPr>
              <a:t>Hand-written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39900"/>
            <a:ext cx="3556000" cy="736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600" b="1">
                <a:solidFill>
                  <a:srgbClr val="5FB98C"/>
                </a:solidFill>
                <a:latin typeface="Poppins"/>
              </a:rPr>
              <a:t>100%</a:t>
            </a:r>
          </a:p>
          <a:p>
            <a:pPr algn="ctr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scenario quality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67000" y="2540000"/>
            <a:ext cx="2794000" cy="0"/>
          </a:xfrm>
          <a:prstGeom prst="line">
            <a:avLst/>
          </a:prstGeom>
          <a:ln w="1778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0" y="2603500"/>
            <a:ext cx="3556000" cy="736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400" b="1">
                <a:solidFill>
                  <a:srgbClr val="F7DD85"/>
                </a:solidFill>
                <a:latin typeface="Roboto Mono"/>
              </a:rPr>
              <a:t>17</a:t>
            </a:r>
          </a:p>
          <a:p>
            <a:pPr algn="ctr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lines of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0750" y="33401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232239"/>
          </a:solidFill>
          <a:ln w="1270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7DD85"/>
                </a:solidFill>
                <a:latin typeface="Poppins"/>
              </a:rPr>
              <a:t>linear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3500" y="1270000"/>
            <a:ext cx="3556000" cy="2667000"/>
          </a:xfrm>
          <a:prstGeom prst="roundRect">
            <a:avLst>
              <a:gd name="adj" fmla="val 5000"/>
            </a:avLst>
          </a:prstGeom>
          <a:solidFill>
            <a:srgbClr val="38365C"/>
          </a:solidFill>
          <a:ln w="30480">
            <a:solidFill>
              <a:srgbClr val="A89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3500" y="1409700"/>
            <a:ext cx="3556000" cy="279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C5BEF2"/>
                </a:solidFill>
                <a:latin typeface="Poppins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3500" y="1739900"/>
            <a:ext cx="3556000" cy="736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600" b="1">
                <a:solidFill>
                  <a:srgbClr val="5FB98C"/>
                </a:solidFill>
                <a:latin typeface="Poppins"/>
              </a:rPr>
              <a:t>100%</a:t>
            </a:r>
          </a:p>
          <a:p>
            <a:pPr algn="ctr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scenario quality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94500" y="2540000"/>
            <a:ext cx="2794000" cy="0"/>
          </a:xfrm>
          <a:prstGeom prst="line">
            <a:avLst/>
          </a:prstGeom>
          <a:ln w="1778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3500" y="2603500"/>
            <a:ext cx="3556000" cy="736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400" b="1">
                <a:solidFill>
                  <a:srgbClr val="C5BEF2"/>
                </a:solidFill>
                <a:latin typeface="Roboto Mono"/>
              </a:rPr>
              <a:t>38</a:t>
            </a:r>
          </a:p>
          <a:p>
            <a:pPr algn="ctr">
              <a:lnSpc>
                <a:spcPct val="105000"/>
              </a:lnSpc>
              <a:spcBef>
                <a:spcPts val="60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lines (2.2×)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8250" y="3340100"/>
            <a:ext cx="1206500" cy="203200"/>
          </a:xfrm>
          <a:prstGeom prst="roundRect">
            <a:avLst>
              <a:gd name="adj" fmla="val 50000"/>
            </a:avLst>
          </a:prstGeom>
          <a:solidFill>
            <a:srgbClr val="232239"/>
          </a:solidFill>
          <a:ln w="12700">
            <a:solidFill>
              <a:srgbClr val="A89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508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5BEF2"/>
                </a:solidFill>
                <a:latin typeface="Poppins"/>
              </a:rPr>
              <a:t>branching + HITL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0" y="1892300"/>
            <a:ext cx="5080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C2C0D6"/>
                </a:solidFill>
                <a:latin typeface="Poppins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0" y="2717800"/>
            <a:ext cx="508000" cy="254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C2C0D6"/>
                </a:solidFill>
                <a:latin typeface="Poppins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216400"/>
            <a:ext cx="7683500" cy="2159000"/>
          </a:xfrm>
          <a:prstGeom prst="roundRect">
            <a:avLst>
              <a:gd name="adj" fmla="val 4000"/>
            </a:avLst>
          </a:prstGeom>
          <a:solidFill>
            <a:srgbClr val="232239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508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Decision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C2C0D6"/>
                </a:solidFill>
                <a:latin typeface="Poppins"/>
              </a:rPr>
              <a:t>Hand-loop for the linear Trip Planner — less code, fully legible.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C2C0D6"/>
                </a:solidFill>
                <a:latin typeface="Poppins"/>
              </a:rPr>
              <a:t>LangGraph for the branching, human-in-the-loop Prospector — where interrupt + durable checkpoints actually earn their cost.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7DD85"/>
                </a:solidFill>
                <a:latin typeface="Poppins"/>
              </a:rPr>
              <a:t>Frameworks are not a quality lever — claiming so would be a confound.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