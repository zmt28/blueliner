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B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44500" y="215900"/>
            <a:ext cx="11303000" cy="38100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3200" b="1">
                <a:solidFill>
                  <a:srgbClr val="FFFFFF"/>
                </a:solidFill>
                <a:latin typeface="Poppins"/>
              </a:rPr>
              <a:t>Two Agents, One Trustworthy Spine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4500" y="584200"/>
            <a:ext cx="11303000" cy="19050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0">
                <a:solidFill>
                  <a:srgbClr val="C2C0D6"/>
                </a:solidFill>
                <a:latin typeface="Poppins"/>
              </a:rPr>
              <a:t>Two agents share one deterministic, guardrailed spine.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-95250" y="952500"/>
            <a:ext cx="2540000" cy="17780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1">
                <a:solidFill>
                  <a:srgbClr val="8E8CAB"/>
                </a:solidFill>
                <a:latin typeface="Poppins"/>
              </a:rPr>
              <a:t>REQUESTS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22500" y="952500"/>
            <a:ext cx="2540000" cy="17780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1">
                <a:solidFill>
                  <a:srgbClr val="8E8CAB"/>
                </a:solidFill>
                <a:latin typeface="Poppins"/>
              </a:rPr>
              <a:t>ORCHESTRATION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75250" y="952500"/>
            <a:ext cx="2540000" cy="17780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1">
                <a:solidFill>
                  <a:srgbClr val="8E8CAB"/>
                </a:solidFill>
                <a:latin typeface="Poppins"/>
              </a:rPr>
              <a:t>SHARED TRUSTWORTHY SPINE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36000" y="952500"/>
            <a:ext cx="2540000" cy="17780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1">
                <a:solidFill>
                  <a:srgbClr val="8E8CAB"/>
                </a:solidFill>
                <a:latin typeface="Poppins"/>
              </a:rPr>
              <a:t>DATA SOURCES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4500" y="1333500"/>
            <a:ext cx="1460500" cy="762000"/>
          </a:xfrm>
          <a:prstGeom prst="roundRect">
            <a:avLst>
              <a:gd name="adj" fmla="val 8000"/>
            </a:avLst>
          </a:prstGeom>
          <a:solidFill>
            <a:srgbClr val="38365C"/>
          </a:solidFill>
          <a:ln w="25400">
            <a:solidFill>
              <a:srgbClr val="F0C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8900" rIns="63500" tIns="50800" bIns="3810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>
                <a:solidFill>
                  <a:srgbClr val="F7DD85"/>
                </a:solidFill>
                <a:latin typeface="Poppins"/>
              </a:rPr>
              <a:t>Trip Planner</a:t>
            </a:r>
          </a:p>
          <a:p>
            <a:pPr algn="ctr">
              <a:lnSpc>
                <a:spcPct val="105000"/>
              </a:lnSpc>
              <a:spcBef>
                <a:spcPts val="200"/>
              </a:spcBef>
              <a:spcAft>
                <a:spcPts val="100"/>
              </a:spcAft>
            </a:pPr>
            <a:r>
              <a:rPr sz="1100" b="0">
                <a:solidFill>
                  <a:srgbClr val="C2C0D6"/>
                </a:solidFill>
                <a:latin typeface="Poppins"/>
              </a:rPr>
              <a:t>“where to fish?”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4500" y="2984500"/>
            <a:ext cx="1460500" cy="762000"/>
          </a:xfrm>
          <a:prstGeom prst="roundRect">
            <a:avLst>
              <a:gd name="adj" fmla="val 8000"/>
            </a:avLst>
          </a:prstGeom>
          <a:solidFill>
            <a:srgbClr val="38365C"/>
          </a:solidFill>
          <a:ln w="25400">
            <a:solidFill>
              <a:srgbClr val="A89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8900" rIns="63500" tIns="50800" bIns="3810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>
                <a:solidFill>
                  <a:srgbClr val="C5BEF2"/>
                </a:solidFill>
                <a:latin typeface="Poppins"/>
              </a:rPr>
              <a:t>Prospector</a:t>
            </a:r>
          </a:p>
          <a:p>
            <a:pPr algn="ctr">
              <a:lnSpc>
                <a:spcPct val="105000"/>
              </a:lnSpc>
              <a:spcBef>
                <a:spcPts val="200"/>
              </a:spcBef>
              <a:spcAft>
                <a:spcPts val="100"/>
              </a:spcAft>
            </a:pPr>
            <a:r>
              <a:rPr sz="1100" b="0">
                <a:solidFill>
                  <a:srgbClr val="C2C0D6"/>
                </a:solidFill>
                <a:latin typeface="Poppins"/>
              </a:rPr>
              <a:t>“find new trout water?”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286000" y="1333500"/>
            <a:ext cx="2667000" cy="952500"/>
          </a:xfrm>
          <a:prstGeom prst="roundRect">
            <a:avLst>
              <a:gd name="adj" fmla="val 8000"/>
            </a:avLst>
          </a:prstGeom>
          <a:solidFill>
            <a:srgbClr val="38365C"/>
          </a:solidFill>
          <a:ln w="25400">
            <a:solidFill>
              <a:srgbClr val="F0C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8900" rIns="63500" tIns="50800" bIns="3810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800" b="1">
                <a:solidFill>
                  <a:srgbClr val="F7DD85"/>
                </a:solidFill>
                <a:latin typeface="Poppins"/>
              </a:rPr>
              <a:t>Trip Planner</a:t>
            </a:r>
          </a:p>
          <a:p>
            <a:pPr algn="l">
              <a:lnSpc>
                <a:spcPct val="105000"/>
              </a:lnSpc>
              <a:spcBef>
                <a:spcPts val="200"/>
              </a:spcBef>
              <a:spcAft>
                <a:spcPts val="100"/>
              </a:spcAft>
            </a:pPr>
            <a:r>
              <a:rPr sz="1100" b="0">
                <a:solidFill>
                  <a:srgbClr val="C2C0D6"/>
                </a:solidFill>
                <a:latin typeface="Poppins"/>
              </a:rPr>
              <a:t>hand-written tool loop</a:t>
            </a:r>
          </a:p>
          <a:p>
            <a:pPr algn="l">
              <a:lnSpc>
                <a:spcPct val="105000"/>
              </a:lnSpc>
              <a:spcBef>
                <a:spcPts val="400"/>
              </a:spcBef>
              <a:spcAft>
                <a:spcPts val="100"/>
              </a:spcAft>
            </a:pPr>
            <a:r>
              <a:rPr sz="1100" b="0">
                <a:solidFill>
                  <a:srgbClr val="FFFFFF"/>
                </a:solidFill>
                <a:latin typeface="Roboto Mono"/>
              </a:rPr>
              <a:t>Haiku retrieval → Sonnet ranking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286000" y="2984500"/>
            <a:ext cx="2667000" cy="952500"/>
          </a:xfrm>
          <a:prstGeom prst="roundRect">
            <a:avLst>
              <a:gd name="adj" fmla="val 8000"/>
            </a:avLst>
          </a:prstGeom>
          <a:solidFill>
            <a:srgbClr val="38365C"/>
          </a:solidFill>
          <a:ln w="25400">
            <a:solidFill>
              <a:srgbClr val="A89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8900" rIns="63500" tIns="50800" bIns="3810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800" b="1">
                <a:solidFill>
                  <a:srgbClr val="C5BEF2"/>
                </a:solidFill>
                <a:latin typeface="Poppins"/>
              </a:rPr>
              <a:t>Prospector</a:t>
            </a:r>
          </a:p>
          <a:p>
            <a:pPr algn="l">
              <a:lnSpc>
                <a:spcPct val="105000"/>
              </a:lnSpc>
              <a:spcBef>
                <a:spcPts val="200"/>
              </a:spcBef>
              <a:spcAft>
                <a:spcPts val="100"/>
              </a:spcAft>
            </a:pPr>
            <a:r>
              <a:rPr sz="1100" b="0">
                <a:solidFill>
                  <a:srgbClr val="C2C0D6"/>
                </a:solidFill>
                <a:latin typeface="Poppins"/>
              </a:rPr>
              <a:t>LangGraph</a:t>
            </a:r>
          </a:p>
          <a:p>
            <a:pPr algn="l">
              <a:lnSpc>
                <a:spcPct val="105000"/>
              </a:lnSpc>
              <a:spcBef>
                <a:spcPts val="400"/>
              </a:spcBef>
              <a:spcAft>
                <a:spcPts val="100"/>
              </a:spcAft>
            </a:pPr>
            <a:r>
              <a:rPr sz="1100" b="0">
                <a:solidFill>
                  <a:srgbClr val="FFFFFF"/>
                </a:solidFill>
                <a:latin typeface="Poppins"/>
              </a:rPr>
              <a:t>branching · human-in-the-loop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80000" y="1143000"/>
            <a:ext cx="2730500" cy="4381500"/>
          </a:xfrm>
          <a:prstGeom prst="roundRect">
            <a:avLst>
              <a:gd name="adj" fmla="val 4000"/>
            </a:avLst>
          </a:prstGeom>
          <a:solidFill>
            <a:srgbClr val="232239"/>
          </a:solidFill>
          <a:ln w="25400">
            <a:solidFill>
              <a:srgbClr val="F0C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207000" y="1397000"/>
            <a:ext cx="2476500" cy="520700"/>
          </a:xfrm>
          <a:prstGeom prst="roundRect">
            <a:avLst>
              <a:gd name="adj" fmla="val 8000"/>
            </a:avLst>
          </a:prstGeom>
          <a:solidFill>
            <a:srgbClr val="38365C"/>
          </a:solidFill>
          <a:ln w="25400">
            <a:solidFill>
              <a:srgbClr val="F0C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8900" rIns="63500" tIns="50800" bIns="3810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600" b="1">
                <a:solidFill>
                  <a:srgbClr val="FFFFFF"/>
                </a:solidFill>
                <a:latin typeface="Poppins"/>
              </a:rPr>
              <a:t>MCP tool belt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0500" y="1587500"/>
            <a:ext cx="1066800" cy="13970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1">
                <a:solidFill>
                  <a:srgbClr val="F0C84C"/>
                </a:solidFill>
                <a:latin typeface="Poppins"/>
              </a:rPr>
              <a:t>retrieval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207000" y="2159000"/>
            <a:ext cx="2476500" cy="584200"/>
          </a:xfrm>
          <a:prstGeom prst="roundRect">
            <a:avLst>
              <a:gd name="adj" fmla="val 8000"/>
            </a:avLst>
          </a:prstGeom>
          <a:solidFill>
            <a:srgbClr val="454270"/>
          </a:solidFill>
          <a:ln w="38100">
            <a:solidFill>
              <a:srgbClr val="5FB9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8900" rIns="63500" tIns="50800" bIns="3810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600" b="1">
                <a:solidFill>
                  <a:srgbClr val="FFFFFF"/>
                </a:solidFill>
                <a:latin typeface="Poppins"/>
              </a:rPr>
              <a:t>Deterministic scorer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40500" y="2381250"/>
            <a:ext cx="1066800" cy="13970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1">
                <a:solidFill>
                  <a:srgbClr val="5FB98C"/>
                </a:solidFill>
                <a:latin typeface="Poppins"/>
              </a:rPr>
              <a:t>the oracle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207000" y="2984500"/>
            <a:ext cx="2476500" cy="520700"/>
          </a:xfrm>
          <a:prstGeom prst="roundRect">
            <a:avLst>
              <a:gd name="adj" fmla="val 8000"/>
            </a:avLst>
          </a:prstGeom>
          <a:solidFill>
            <a:srgbClr val="38365C"/>
          </a:solidFill>
          <a:ln w="25400">
            <a:solidFill>
              <a:srgbClr val="F0C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8900" rIns="63500" tIns="50800" bIns="3810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600" b="1">
                <a:solidFill>
                  <a:srgbClr val="FFFFFF"/>
                </a:solidFill>
                <a:latin typeface="Poppins"/>
              </a:rPr>
              <a:t>Grounding contract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207000" y="3683000"/>
            <a:ext cx="2476500" cy="584200"/>
          </a:xfrm>
          <a:prstGeom prst="roundRect">
            <a:avLst>
              <a:gd name="adj" fmla="val 8000"/>
            </a:avLst>
          </a:prstGeom>
          <a:solidFill>
            <a:srgbClr val="38365C"/>
          </a:solidFill>
          <a:ln w="25400">
            <a:solidFill>
              <a:srgbClr val="E068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8900" rIns="63500" tIns="50800" bIns="3810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600" b="1">
                <a:solidFill>
                  <a:srgbClr val="FFFFFF"/>
                </a:solidFill>
                <a:latin typeface="Poppins"/>
              </a:rPr>
              <a:t>Guardrail veto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40500" y="3905250"/>
            <a:ext cx="1066800" cy="13970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1">
                <a:solidFill>
                  <a:srgbClr val="E0685C"/>
                </a:solidFill>
                <a:latin typeface="Poppins"/>
              </a:rPr>
              <a:t>rules decide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07000" y="4508500"/>
            <a:ext cx="2476500" cy="16510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>
                <a:solidFill>
                  <a:srgbClr val="F7DD85"/>
                </a:solidFill>
                <a:latin typeface="Poppins"/>
              </a:rPr>
              <a:t>the model advises · the rules decide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445250" y="1917700"/>
            <a:ext cx="0" cy="241300"/>
          </a:xfrm>
          <a:prstGeom prst="line">
            <a:avLst/>
          </a:prstGeom>
          <a:ln w="25400">
            <a:solidFill>
              <a:srgbClr val="C2C0D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6445250" y="2743200"/>
            <a:ext cx="0" cy="241300"/>
          </a:xfrm>
          <a:prstGeom prst="line">
            <a:avLst/>
          </a:prstGeom>
          <a:ln w="25400">
            <a:solidFill>
              <a:srgbClr val="C2C0D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6445250" y="3505200"/>
            <a:ext cx="0" cy="177800"/>
          </a:xfrm>
          <a:prstGeom prst="line">
            <a:avLst/>
          </a:prstGeom>
          <a:ln w="25400">
            <a:solidFill>
              <a:srgbClr val="C2C0D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8128000" y="1333500"/>
            <a:ext cx="1587500" cy="457200"/>
          </a:xfrm>
          <a:prstGeom prst="roundRect">
            <a:avLst>
              <a:gd name="adj" fmla="val 8000"/>
            </a:avLst>
          </a:prstGeom>
          <a:solidFill>
            <a:srgbClr val="38365C"/>
          </a:solidFill>
          <a:ln w="17780">
            <a:solidFill>
              <a:srgbClr val="5552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8900" rIns="63500" tIns="50800" bIns="3810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1">
                <a:solidFill>
                  <a:srgbClr val="FFFFFF"/>
                </a:solidFill>
                <a:latin typeface="Poppins"/>
              </a:rPr>
              <a:t>USGS NWIS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969500" y="1333500"/>
            <a:ext cx="1587500" cy="457200"/>
          </a:xfrm>
          <a:prstGeom prst="roundRect">
            <a:avLst>
              <a:gd name="adj" fmla="val 8000"/>
            </a:avLst>
          </a:prstGeom>
          <a:solidFill>
            <a:srgbClr val="38365C"/>
          </a:solidFill>
          <a:ln w="17780">
            <a:solidFill>
              <a:srgbClr val="5552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8900" rIns="63500" tIns="50800" bIns="3810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1">
                <a:solidFill>
                  <a:srgbClr val="FFFFFF"/>
                </a:solidFill>
                <a:latin typeface="Poppins"/>
              </a:rPr>
              <a:t>USGS NLDI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128000" y="1905000"/>
            <a:ext cx="1587500" cy="457200"/>
          </a:xfrm>
          <a:prstGeom prst="roundRect">
            <a:avLst>
              <a:gd name="adj" fmla="val 8000"/>
            </a:avLst>
          </a:prstGeom>
          <a:solidFill>
            <a:srgbClr val="38365C"/>
          </a:solidFill>
          <a:ln w="17780">
            <a:solidFill>
              <a:srgbClr val="5552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8900" rIns="63500" tIns="50800" bIns="3810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1">
                <a:solidFill>
                  <a:srgbClr val="FFFFFF"/>
                </a:solidFill>
                <a:latin typeface="Poppins"/>
              </a:rPr>
              <a:t>NOAA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969500" y="1905000"/>
            <a:ext cx="1587500" cy="457200"/>
          </a:xfrm>
          <a:prstGeom prst="roundRect">
            <a:avLst>
              <a:gd name="adj" fmla="val 8000"/>
            </a:avLst>
          </a:prstGeom>
          <a:solidFill>
            <a:srgbClr val="38365C"/>
          </a:solidFill>
          <a:ln w="17780">
            <a:solidFill>
              <a:srgbClr val="5552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8900" rIns="63500" tIns="50800" bIns="3810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1">
                <a:solidFill>
                  <a:srgbClr val="FFFFFF"/>
                </a:solidFill>
                <a:latin typeface="Poppins"/>
              </a:rPr>
              <a:t>State ArcGIS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128000" y="2476500"/>
            <a:ext cx="1587500" cy="457200"/>
          </a:xfrm>
          <a:prstGeom prst="roundRect">
            <a:avLst>
              <a:gd name="adj" fmla="val 8000"/>
            </a:avLst>
          </a:prstGeom>
          <a:solidFill>
            <a:srgbClr val="38365C"/>
          </a:solidFill>
          <a:ln w="17780">
            <a:solidFill>
              <a:srgbClr val="5552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8900" rIns="63500" tIns="50800" bIns="3810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1">
                <a:solidFill>
                  <a:srgbClr val="FFFFFF"/>
                </a:solidFill>
                <a:latin typeface="Poppins"/>
              </a:rPr>
              <a:t>PAD-US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969500" y="2476500"/>
            <a:ext cx="1587500" cy="457200"/>
          </a:xfrm>
          <a:prstGeom prst="roundRect">
            <a:avLst>
              <a:gd name="adj" fmla="val 8000"/>
            </a:avLst>
          </a:prstGeom>
          <a:solidFill>
            <a:srgbClr val="38365C"/>
          </a:solidFill>
          <a:ln w="17780">
            <a:solidFill>
              <a:srgbClr val="5552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8900" rIns="63500" tIns="50800" bIns="3810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1">
                <a:solidFill>
                  <a:srgbClr val="FFFFFF"/>
                </a:solidFill>
                <a:latin typeface="Poppins"/>
              </a:rPr>
              <a:t>Postgres</a:t>
            </a:r>
          </a:p>
        </p:txBody>
      </p:sp>
      <p:cxnSp>
        <p:nvCxnSpPr>
          <p:cNvPr id="31" name="Connector 30"/>
          <p:cNvCxnSpPr/>
          <p:nvPr/>
        </p:nvCxnSpPr>
        <p:spPr>
          <a:xfrm flipH="1">
            <a:off x="7696200" y="1562100"/>
            <a:ext cx="431800" cy="120650"/>
          </a:xfrm>
          <a:prstGeom prst="line">
            <a:avLst/>
          </a:prstGeom>
          <a:ln w="27940">
            <a:solidFill>
              <a:srgbClr val="F0C84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7239000" y="1600200"/>
            <a:ext cx="571500" cy="11430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>
                <a:solidFill>
                  <a:srgbClr val="F7DD85"/>
                </a:solidFill>
                <a:latin typeface="Poppins"/>
              </a:rPr>
              <a:t>fetch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906000" y="3035300"/>
            <a:ext cx="1905000" cy="13970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1">
                <a:solidFill>
                  <a:srgbClr val="8E8CAB"/>
                </a:solidFill>
                <a:latin typeface="Poppins"/>
              </a:rPr>
              <a:t>OUTPUT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128000" y="3213100"/>
            <a:ext cx="1746250" cy="762000"/>
          </a:xfrm>
          <a:prstGeom prst="roundRect">
            <a:avLst>
              <a:gd name="adj" fmla="val 8000"/>
            </a:avLst>
          </a:prstGeom>
          <a:solidFill>
            <a:srgbClr val="38365C"/>
          </a:solidFill>
          <a:ln w="25400">
            <a:solidFill>
              <a:srgbClr val="5FB9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8900" rIns="63500" tIns="50800" bIns="3810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3400" b="1">
                <a:solidFill>
                  <a:srgbClr val="5FB98C"/>
                </a:solidFill>
                <a:latin typeface="Poppins"/>
              </a:rPr>
              <a:t>$0.02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C2C0D6"/>
                </a:solidFill>
                <a:latin typeface="Poppins"/>
              </a:rPr>
              <a:t>per decision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001250" y="3213100"/>
            <a:ext cx="1746250" cy="762000"/>
          </a:xfrm>
          <a:prstGeom prst="roundRect">
            <a:avLst>
              <a:gd name="adj" fmla="val 8000"/>
            </a:avLst>
          </a:prstGeom>
          <a:solidFill>
            <a:srgbClr val="38365C"/>
          </a:solidFill>
          <a:ln w="25400">
            <a:solidFill>
              <a:srgbClr val="F0C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8900" rIns="63500" tIns="50800" bIns="3810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3000" b="1">
                <a:solidFill>
                  <a:srgbClr val="F7DD85"/>
                </a:solidFill>
                <a:latin typeface="Poppins"/>
              </a:rPr>
              <a:t>17–18 s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C2C0D6"/>
                </a:solidFill>
                <a:latin typeface="Poppins"/>
              </a:rPr>
              <a:t>latency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128000" y="4064000"/>
            <a:ext cx="3619500" cy="25400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C2C0D6"/>
                </a:solidFill>
                <a:latin typeface="Poppins"/>
              </a:rPr>
              <a:t>→ ranked, grounded recommendations + guardrail verdicts, on the map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1905000" y="1714500"/>
            <a:ext cx="355600" cy="0"/>
          </a:xfrm>
          <a:prstGeom prst="line">
            <a:avLst/>
          </a:prstGeom>
          <a:ln w="27940">
            <a:solidFill>
              <a:srgbClr val="F0C84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1905000" y="3365500"/>
            <a:ext cx="355600" cy="0"/>
          </a:xfrm>
          <a:prstGeom prst="line">
            <a:avLst/>
          </a:prstGeom>
          <a:ln w="27940">
            <a:solidFill>
              <a:srgbClr val="A89FE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4953000" y="1809750"/>
            <a:ext cx="114300" cy="95250"/>
          </a:xfrm>
          <a:prstGeom prst="line">
            <a:avLst/>
          </a:prstGeom>
          <a:ln w="27940">
            <a:solidFill>
              <a:srgbClr val="F0C84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4953000" y="2984500"/>
            <a:ext cx="114300" cy="349250"/>
          </a:xfrm>
          <a:prstGeom prst="line">
            <a:avLst/>
          </a:prstGeom>
          <a:ln w="27940">
            <a:solidFill>
              <a:srgbClr val="A89FE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7810500" y="3594100"/>
            <a:ext cx="304800" cy="279400"/>
          </a:xfrm>
          <a:prstGeom prst="line">
            <a:avLst/>
          </a:prstGeom>
          <a:ln w="30480">
            <a:solidFill>
              <a:srgbClr val="E0685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ounded Rectangle 41"/>
          <p:cNvSpPr/>
          <p:nvPr/>
        </p:nvSpPr>
        <p:spPr>
          <a:xfrm>
            <a:off x="444500" y="5715000"/>
            <a:ext cx="11303000" cy="698500"/>
          </a:xfrm>
          <a:prstGeom prst="roundRect">
            <a:avLst>
              <a:gd name="adj" fmla="val 4000"/>
            </a:avLst>
          </a:prstGeom>
          <a:solidFill>
            <a:srgbClr val="232239"/>
          </a:solidFill>
          <a:ln w="20320">
            <a:solidFill>
              <a:srgbClr val="F0C84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84200" y="5867400"/>
            <a:ext cx="6350000" cy="15240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1">
                <a:solidFill>
                  <a:srgbClr val="F7DD85"/>
                </a:solidFill>
                <a:latin typeface="Poppins"/>
              </a:rPr>
              <a:t>OFFLINE EVAL HARNESS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84200" y="6070600"/>
            <a:ext cx="10795000" cy="17780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C2C0D6"/>
                </a:solidFill>
                <a:latin typeface="Poppins"/>
              </a:rPr>
              <a:t>The scorer here is the eval oracle — same code · validated on 25 planner scenarios + an honest discovery eval</a:t>
            </a:r>
          </a:p>
        </p:txBody>
      </p:sp>
      <p:cxnSp>
        <p:nvCxnSpPr>
          <p:cNvPr id="45" name="Connector 44"/>
          <p:cNvCxnSpPr/>
          <p:nvPr/>
        </p:nvCxnSpPr>
        <p:spPr>
          <a:xfrm flipV="1">
            <a:off x="5156200" y="2743200"/>
            <a:ext cx="25400" cy="2971800"/>
          </a:xfrm>
          <a:prstGeom prst="line">
            <a:avLst/>
          </a:prstGeom>
          <a:ln w="22860">
            <a:solidFill>
              <a:srgbClr val="5FB98C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B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44500" y="228600"/>
            <a:ext cx="11303000" cy="31750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3200" b="1">
                <a:solidFill>
                  <a:srgbClr val="FFFFFF"/>
                </a:solidFill>
                <a:latin typeface="Poppins"/>
              </a:rPr>
              <a:t>Trip Planner: The v0 → v3 Staircase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4500" y="609600"/>
            <a:ext cx="11303000" cy="25400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0">
                <a:solidFill>
                  <a:srgbClr val="C2C0D6"/>
                </a:solidFill>
                <a:latin typeface="Poppins"/>
              </a:rPr>
              <a:t>Grounding + guardrails turn a confident liar into a trustworthy assistant (25 scenarios)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540000" y="1079500"/>
            <a:ext cx="2187575" cy="660400"/>
          </a:xfrm>
          <a:prstGeom prst="roundRect">
            <a:avLst>
              <a:gd name="adj" fmla="val 8000"/>
            </a:avLst>
          </a:prstGeom>
          <a:solidFill>
            <a:srgbClr val="38365C"/>
          </a:solidFill>
          <a:ln w="25400">
            <a:solidFill>
              <a:srgbClr val="E068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8900" rIns="63500" tIns="50800" bIns="3810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3000" b="1">
                <a:solidFill>
                  <a:srgbClr val="E0685C"/>
                </a:solidFill>
                <a:latin typeface="Poppins"/>
              </a:rPr>
              <a:t>v0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C2C0D6"/>
                </a:solidFill>
                <a:latin typeface="Poppins"/>
              </a:rPr>
              <a:t>naive prompt, no tools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841875" y="1079500"/>
            <a:ext cx="2187575" cy="660400"/>
          </a:xfrm>
          <a:prstGeom prst="roundRect">
            <a:avLst>
              <a:gd name="adj" fmla="val 8000"/>
            </a:avLst>
          </a:prstGeom>
          <a:solidFill>
            <a:srgbClr val="38365C"/>
          </a:solidFill>
          <a:ln w="25400">
            <a:solidFill>
              <a:srgbClr val="A89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8900" rIns="63500" tIns="50800" bIns="3810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3000" b="1">
                <a:solidFill>
                  <a:srgbClr val="A89FE6"/>
                </a:solidFill>
                <a:latin typeface="Poppins"/>
              </a:rPr>
              <a:t>v1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C2C0D6"/>
                </a:solidFill>
                <a:latin typeface="Poppins"/>
              </a:rPr>
              <a:t>tool-grounded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43750" y="1079500"/>
            <a:ext cx="2187575" cy="660400"/>
          </a:xfrm>
          <a:prstGeom prst="roundRect">
            <a:avLst>
              <a:gd name="adj" fmla="val 8000"/>
            </a:avLst>
          </a:prstGeom>
          <a:solidFill>
            <a:srgbClr val="38365C"/>
          </a:solidFill>
          <a:ln w="25400">
            <a:solidFill>
              <a:srgbClr val="F0C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8900" rIns="63500" tIns="50800" bIns="3810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3000" b="1">
                <a:solidFill>
                  <a:srgbClr val="F0C84C"/>
                </a:solidFill>
                <a:latin typeface="Poppins"/>
              </a:rPr>
              <a:t>v2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C2C0D6"/>
                </a:solidFill>
                <a:latin typeface="Poppins"/>
              </a:rPr>
              <a:t>+ catch-log memory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445625" y="1079500"/>
            <a:ext cx="2187575" cy="660400"/>
          </a:xfrm>
          <a:prstGeom prst="roundRect">
            <a:avLst>
              <a:gd name="adj" fmla="val 8000"/>
            </a:avLst>
          </a:prstGeom>
          <a:solidFill>
            <a:srgbClr val="454270"/>
          </a:solidFill>
          <a:ln w="38100">
            <a:solidFill>
              <a:srgbClr val="5FB9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8900" rIns="63500" tIns="50800" bIns="3810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3000" b="1">
                <a:solidFill>
                  <a:srgbClr val="5FB98C"/>
                </a:solidFill>
                <a:latin typeface="Poppins"/>
              </a:rPr>
              <a:t>v3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FFFFFF"/>
                </a:solidFill>
                <a:latin typeface="Poppins"/>
              </a:rPr>
              <a:t>+ guardrails &amp; grounding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500" y="1879600"/>
            <a:ext cx="2032000" cy="95250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700" b="1">
                <a:solidFill>
                  <a:srgbClr val="FFFFFF"/>
                </a:solidFill>
                <a:latin typeface="Poppins"/>
              </a:rPr>
              <a:t>Recommendation agreement</a:t>
            </a:r>
          </a:p>
          <a:p>
            <a:pPr algn="l">
              <a:lnSpc>
                <a:spcPct val="105000"/>
              </a:lnSpc>
              <a:spcBef>
                <a:spcPts val="200"/>
              </a:spcBef>
              <a:spcAft>
                <a:spcPts val="100"/>
              </a:spcAft>
            </a:pPr>
            <a:r>
              <a:rPr sz="1100" b="0">
                <a:solidFill>
                  <a:srgbClr val="8E8CAB"/>
                </a:solidFill>
                <a:latin typeface="Poppins"/>
              </a:rPr>
              <a:t>higher is better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540000" y="1879600"/>
            <a:ext cx="2187575" cy="952500"/>
          </a:xfrm>
          <a:prstGeom prst="roundRect">
            <a:avLst>
              <a:gd name="adj" fmla="val 8000"/>
            </a:avLst>
          </a:prstGeom>
          <a:solidFill>
            <a:srgbClr val="38365C"/>
          </a:solidFill>
          <a:ln w="20320">
            <a:solidFill>
              <a:srgbClr val="E068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8900" rIns="63500" tIns="50800" bIns="3810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4000" b="1">
                <a:solidFill>
                  <a:srgbClr val="E0685C"/>
                </a:solidFill>
                <a:latin typeface="Poppins"/>
              </a:rPr>
              <a:t>8%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841875" y="1879600"/>
            <a:ext cx="2187575" cy="952500"/>
          </a:xfrm>
          <a:prstGeom prst="roundRect">
            <a:avLst>
              <a:gd name="adj" fmla="val 8000"/>
            </a:avLst>
          </a:prstGeom>
          <a:solidFill>
            <a:srgbClr val="38365C"/>
          </a:solidFill>
          <a:ln w="20320">
            <a:solidFill>
              <a:srgbClr val="5FB9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8900" rIns="63500" tIns="50800" bIns="3810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4000" b="1">
                <a:solidFill>
                  <a:srgbClr val="5FB98C"/>
                </a:solidFill>
                <a:latin typeface="Poppins"/>
              </a:rPr>
              <a:t>100%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43750" y="1879600"/>
            <a:ext cx="2187575" cy="952500"/>
          </a:xfrm>
          <a:prstGeom prst="roundRect">
            <a:avLst>
              <a:gd name="adj" fmla="val 8000"/>
            </a:avLst>
          </a:prstGeom>
          <a:solidFill>
            <a:srgbClr val="38365C"/>
          </a:solidFill>
          <a:ln w="20320">
            <a:solidFill>
              <a:srgbClr val="5FB9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8900" rIns="63500" tIns="50800" bIns="3810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4000" b="1">
                <a:solidFill>
                  <a:srgbClr val="5FB98C"/>
                </a:solidFill>
                <a:latin typeface="Poppins"/>
              </a:rPr>
              <a:t>100%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445625" y="1879600"/>
            <a:ext cx="2187575" cy="952500"/>
          </a:xfrm>
          <a:prstGeom prst="roundRect">
            <a:avLst>
              <a:gd name="adj" fmla="val 8000"/>
            </a:avLst>
          </a:prstGeom>
          <a:solidFill>
            <a:srgbClr val="38365C"/>
          </a:solidFill>
          <a:ln w="33020">
            <a:solidFill>
              <a:srgbClr val="5FB9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8900" rIns="63500" tIns="50800" bIns="3810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4000" b="1">
                <a:solidFill>
                  <a:srgbClr val="5FB98C"/>
                </a:solidFill>
                <a:latin typeface="Poppins"/>
              </a:rPr>
              <a:t>100%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500" y="2921000"/>
            <a:ext cx="2032000" cy="95250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700" b="1">
                <a:solidFill>
                  <a:srgbClr val="FFFFFF"/>
                </a:solidFill>
                <a:latin typeface="Poppins"/>
              </a:rPr>
              <a:t>Safety violations</a:t>
            </a:r>
          </a:p>
          <a:p>
            <a:pPr algn="l">
              <a:lnSpc>
                <a:spcPct val="105000"/>
              </a:lnSpc>
              <a:spcBef>
                <a:spcPts val="200"/>
              </a:spcBef>
              <a:spcAft>
                <a:spcPts val="100"/>
              </a:spcAft>
            </a:pPr>
            <a:r>
              <a:rPr sz="1100" b="0">
                <a:solidFill>
                  <a:srgbClr val="8E8CAB"/>
                </a:solidFill>
                <a:latin typeface="Poppins"/>
              </a:rPr>
              <a:t>lower is better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540000" y="2921000"/>
            <a:ext cx="2187575" cy="952500"/>
          </a:xfrm>
          <a:prstGeom prst="roundRect">
            <a:avLst>
              <a:gd name="adj" fmla="val 8000"/>
            </a:avLst>
          </a:prstGeom>
          <a:solidFill>
            <a:srgbClr val="38365C"/>
          </a:solidFill>
          <a:ln w="20320">
            <a:solidFill>
              <a:srgbClr val="E068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8900" rIns="63500" tIns="50800" bIns="3810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4000" b="1">
                <a:solidFill>
                  <a:srgbClr val="E0685C"/>
                </a:solidFill>
                <a:latin typeface="Poppins"/>
              </a:rPr>
              <a:t>16%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841875" y="2921000"/>
            <a:ext cx="2187575" cy="952500"/>
          </a:xfrm>
          <a:prstGeom prst="roundRect">
            <a:avLst>
              <a:gd name="adj" fmla="val 8000"/>
            </a:avLst>
          </a:prstGeom>
          <a:solidFill>
            <a:srgbClr val="38365C"/>
          </a:solidFill>
          <a:ln w="20320">
            <a:solidFill>
              <a:srgbClr val="5FB9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8900" rIns="63500" tIns="50800" bIns="3810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4000" b="1">
                <a:solidFill>
                  <a:srgbClr val="5FB98C"/>
                </a:solidFill>
                <a:latin typeface="Poppins"/>
              </a:rPr>
              <a:t>0%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143750" y="2921000"/>
            <a:ext cx="2187575" cy="952500"/>
          </a:xfrm>
          <a:prstGeom prst="roundRect">
            <a:avLst>
              <a:gd name="adj" fmla="val 8000"/>
            </a:avLst>
          </a:prstGeom>
          <a:solidFill>
            <a:srgbClr val="38365C"/>
          </a:solidFill>
          <a:ln w="20320">
            <a:solidFill>
              <a:srgbClr val="5FB9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8900" rIns="63500" tIns="50800" bIns="3810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4000" b="1">
                <a:solidFill>
                  <a:srgbClr val="5FB98C"/>
                </a:solidFill>
                <a:latin typeface="Poppins"/>
              </a:rPr>
              <a:t>0%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445625" y="2921000"/>
            <a:ext cx="2187575" cy="952500"/>
          </a:xfrm>
          <a:prstGeom prst="roundRect">
            <a:avLst>
              <a:gd name="adj" fmla="val 8000"/>
            </a:avLst>
          </a:prstGeom>
          <a:solidFill>
            <a:srgbClr val="38365C"/>
          </a:solidFill>
          <a:ln w="33020">
            <a:solidFill>
              <a:srgbClr val="5FB9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8900" rIns="63500" tIns="50800" bIns="3810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4000" b="1">
                <a:solidFill>
                  <a:srgbClr val="5FB98C"/>
                </a:solidFill>
                <a:latin typeface="Poppins"/>
              </a:rPr>
              <a:t>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4500" y="3962400"/>
            <a:ext cx="2032000" cy="95250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700" b="1">
                <a:solidFill>
                  <a:srgbClr val="FFFFFF"/>
                </a:solidFill>
                <a:latin typeface="Poppins"/>
              </a:rPr>
              <a:t>Hallucinated readings</a:t>
            </a:r>
          </a:p>
          <a:p>
            <a:pPr algn="l">
              <a:lnSpc>
                <a:spcPct val="105000"/>
              </a:lnSpc>
              <a:spcBef>
                <a:spcPts val="200"/>
              </a:spcBef>
              <a:spcAft>
                <a:spcPts val="100"/>
              </a:spcAft>
            </a:pPr>
            <a:r>
              <a:rPr sz="1100" b="0">
                <a:solidFill>
                  <a:srgbClr val="8E8CAB"/>
                </a:solidFill>
                <a:latin typeface="Poppins"/>
              </a:rPr>
              <a:t>lower is better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540000" y="3962400"/>
            <a:ext cx="2187575" cy="952500"/>
          </a:xfrm>
          <a:prstGeom prst="roundRect">
            <a:avLst>
              <a:gd name="adj" fmla="val 8000"/>
            </a:avLst>
          </a:prstGeom>
          <a:solidFill>
            <a:srgbClr val="38365C"/>
          </a:solidFill>
          <a:ln w="20320">
            <a:solidFill>
              <a:srgbClr val="E068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8900" rIns="63500" tIns="50800" bIns="3810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4000" b="1">
                <a:solidFill>
                  <a:srgbClr val="E0685C"/>
                </a:solidFill>
                <a:latin typeface="Poppins"/>
              </a:rPr>
              <a:t>100%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841875" y="3962400"/>
            <a:ext cx="2187575" cy="952500"/>
          </a:xfrm>
          <a:prstGeom prst="roundRect">
            <a:avLst>
              <a:gd name="adj" fmla="val 8000"/>
            </a:avLst>
          </a:prstGeom>
          <a:solidFill>
            <a:srgbClr val="38365C"/>
          </a:solidFill>
          <a:ln w="20320">
            <a:solidFill>
              <a:srgbClr val="F0C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8900" rIns="63500" tIns="50800" bIns="3810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4000" b="1">
                <a:solidFill>
                  <a:srgbClr val="F0C84C"/>
                </a:solidFill>
                <a:latin typeface="Poppins"/>
              </a:rPr>
              <a:t>4%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143750" y="3962400"/>
            <a:ext cx="2187575" cy="952500"/>
          </a:xfrm>
          <a:prstGeom prst="roundRect">
            <a:avLst>
              <a:gd name="adj" fmla="val 8000"/>
            </a:avLst>
          </a:prstGeom>
          <a:solidFill>
            <a:srgbClr val="38365C"/>
          </a:solidFill>
          <a:ln w="20320">
            <a:solidFill>
              <a:srgbClr val="F0C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8900" rIns="63500" tIns="50800" bIns="3810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4000" b="1">
                <a:solidFill>
                  <a:srgbClr val="F0C84C"/>
                </a:solidFill>
                <a:latin typeface="Poppins"/>
              </a:rPr>
              <a:t>12%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445625" y="3962400"/>
            <a:ext cx="2187575" cy="952500"/>
          </a:xfrm>
          <a:prstGeom prst="roundRect">
            <a:avLst>
              <a:gd name="adj" fmla="val 8000"/>
            </a:avLst>
          </a:prstGeom>
          <a:solidFill>
            <a:srgbClr val="38365C"/>
          </a:solidFill>
          <a:ln w="33020">
            <a:solidFill>
              <a:srgbClr val="5FB9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8900" rIns="63500" tIns="50800" bIns="3810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4000" b="1">
                <a:solidFill>
                  <a:srgbClr val="5FB98C"/>
                </a:solidFill>
                <a:latin typeface="Poppins"/>
              </a:rPr>
              <a:t>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4500" y="6375400"/>
            <a:ext cx="11303000" cy="19050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0">
                <a:solidFill>
                  <a:srgbClr val="C2C0D6"/>
                </a:solidFill>
                <a:latin typeface="Poppins"/>
              </a:rPr>
              <a:t>v2’s hallucination bump (4% → 12%) is real — memory added unsourced numbers; the v3 grounding contract drove it to 0%.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B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44500" y="228600"/>
            <a:ext cx="11303000" cy="31750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3200" b="1">
                <a:solidFill>
                  <a:srgbClr val="FFFFFF"/>
                </a:solidFill>
                <a:latin typeface="Poppins"/>
              </a:rPr>
              <a:t>Engineering Judgment: Right Tool for the Job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4500" y="952500"/>
            <a:ext cx="11303000" cy="19050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>
                <a:solidFill>
                  <a:srgbClr val="8E8CAB"/>
                </a:solidFill>
                <a:latin typeface="Poppins"/>
              </a:rPr>
              <a:t>SAME v3 PLANNER · 25 SCENARIOS · ONLY ORCHESTRATION CHANGES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0" y="1270000"/>
            <a:ext cx="3556000" cy="2667000"/>
          </a:xfrm>
          <a:prstGeom prst="roundRect">
            <a:avLst>
              <a:gd name="adj" fmla="val 5000"/>
            </a:avLst>
          </a:prstGeom>
          <a:solidFill>
            <a:srgbClr val="38365C"/>
          </a:solidFill>
          <a:ln w="30480">
            <a:solidFill>
              <a:srgbClr val="F0C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286000" y="1447800"/>
            <a:ext cx="3556000" cy="31750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2400" b="1">
                <a:solidFill>
                  <a:srgbClr val="F7DD85"/>
                </a:solidFill>
                <a:latin typeface="Poppins"/>
              </a:rPr>
              <a:t>Hand-written loop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0" y="1854200"/>
            <a:ext cx="3556000" cy="57150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6000" b="1">
                <a:solidFill>
                  <a:srgbClr val="5FB98C"/>
                </a:solidFill>
                <a:latin typeface="Poppins"/>
              </a:rPr>
              <a:t>100%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0" y="2463800"/>
            <a:ext cx="3556000" cy="17780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0">
                <a:solidFill>
                  <a:srgbClr val="C2C0D6"/>
                </a:solidFill>
                <a:latin typeface="Poppins"/>
              </a:rPr>
              <a:t>scenario quality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603500" y="2743200"/>
            <a:ext cx="2921000" cy="0"/>
          </a:xfrm>
          <a:prstGeom prst="line">
            <a:avLst/>
          </a:prstGeom>
          <a:ln w="17780">
            <a:solidFill>
              <a:srgbClr val="55527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2286000" y="2844800"/>
            <a:ext cx="3556000" cy="50800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5200" b="1">
                <a:solidFill>
                  <a:srgbClr val="F7DD85"/>
                </a:solidFill>
                <a:latin typeface="Roboto Mono"/>
              </a:rPr>
              <a:t>17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86000" y="3429000"/>
            <a:ext cx="3556000" cy="17780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0">
                <a:solidFill>
                  <a:srgbClr val="C2C0D6"/>
                </a:solidFill>
                <a:latin typeface="Poppins"/>
              </a:rPr>
              <a:t>lines of orchestration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60750" y="3632200"/>
            <a:ext cx="1206500" cy="203200"/>
          </a:xfrm>
          <a:prstGeom prst="roundRect">
            <a:avLst>
              <a:gd name="adj" fmla="val 50000"/>
            </a:avLst>
          </a:prstGeom>
          <a:solidFill>
            <a:srgbClr val="232239"/>
          </a:solidFill>
          <a:ln w="12700">
            <a:solidFill>
              <a:srgbClr val="F0C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8900" rIns="63500" tIns="50800" bIns="3810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200" b="0">
                <a:solidFill>
                  <a:srgbClr val="F7DD85"/>
                </a:solidFill>
                <a:latin typeface="Poppins"/>
              </a:rPr>
              <a:t>linear planner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13500" y="1270000"/>
            <a:ext cx="3556000" cy="2667000"/>
          </a:xfrm>
          <a:prstGeom prst="roundRect">
            <a:avLst>
              <a:gd name="adj" fmla="val 5000"/>
            </a:avLst>
          </a:prstGeom>
          <a:solidFill>
            <a:srgbClr val="38365C"/>
          </a:solidFill>
          <a:ln w="30480">
            <a:solidFill>
              <a:srgbClr val="A89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13500" y="1447800"/>
            <a:ext cx="3556000" cy="31750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2400" b="1">
                <a:solidFill>
                  <a:srgbClr val="C5BEF2"/>
                </a:solidFill>
                <a:latin typeface="Poppins"/>
              </a:rPr>
              <a:t>LangGraph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13500" y="1854200"/>
            <a:ext cx="3556000" cy="57150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6000" b="1">
                <a:solidFill>
                  <a:srgbClr val="5FB98C"/>
                </a:solidFill>
                <a:latin typeface="Poppins"/>
              </a:rPr>
              <a:t>100%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3500" y="2463800"/>
            <a:ext cx="3556000" cy="17780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0">
                <a:solidFill>
                  <a:srgbClr val="C2C0D6"/>
                </a:solidFill>
                <a:latin typeface="Poppins"/>
              </a:rPr>
              <a:t>scenario quality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731000" y="2743200"/>
            <a:ext cx="2921000" cy="0"/>
          </a:xfrm>
          <a:prstGeom prst="line">
            <a:avLst/>
          </a:prstGeom>
          <a:ln w="17780">
            <a:solidFill>
              <a:srgbClr val="55527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413500" y="2844800"/>
            <a:ext cx="3556000" cy="50800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5200" b="1">
                <a:solidFill>
                  <a:srgbClr val="C5BEF2"/>
                </a:solidFill>
                <a:latin typeface="Roboto Mono"/>
              </a:rPr>
              <a:t>38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13500" y="3429000"/>
            <a:ext cx="3556000" cy="17780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0">
                <a:solidFill>
                  <a:srgbClr val="C2C0D6"/>
                </a:solidFill>
                <a:latin typeface="Poppins"/>
              </a:rPr>
              <a:t>lines (2.2×)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588250" y="3632200"/>
            <a:ext cx="1206500" cy="203200"/>
          </a:xfrm>
          <a:prstGeom prst="roundRect">
            <a:avLst>
              <a:gd name="adj" fmla="val 50000"/>
            </a:avLst>
          </a:prstGeom>
          <a:solidFill>
            <a:srgbClr val="232239"/>
          </a:solidFill>
          <a:ln w="12700">
            <a:solidFill>
              <a:srgbClr val="A89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8900" rIns="63500" tIns="50800" bIns="3810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200" b="0">
                <a:solidFill>
                  <a:srgbClr val="C5BEF2"/>
                </a:solidFill>
                <a:latin typeface="Poppins"/>
              </a:rPr>
              <a:t>branching + HITL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42000" y="1841500"/>
            <a:ext cx="508000" cy="38100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4000" b="1">
                <a:solidFill>
                  <a:srgbClr val="C2C0D6"/>
                </a:solidFill>
                <a:latin typeface="Poppins"/>
              </a:rPr>
              <a:t>=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42000" y="2870200"/>
            <a:ext cx="508000" cy="25400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2200" b="1">
                <a:solidFill>
                  <a:srgbClr val="C2C0D6"/>
                </a:solidFill>
                <a:latin typeface="Poppins"/>
              </a:rPr>
              <a:t>vs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286000" y="4216400"/>
            <a:ext cx="7683500" cy="2159000"/>
          </a:xfrm>
          <a:prstGeom prst="roundRect">
            <a:avLst>
              <a:gd name="adj" fmla="val 4000"/>
            </a:avLst>
          </a:prstGeom>
          <a:solidFill>
            <a:srgbClr val="232239"/>
          </a:solidFill>
          <a:ln w="19050">
            <a:solidFill>
              <a:srgbClr val="5552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88900" rIns="63500" tIns="50800" bIns="3810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Poppins"/>
              </a:rPr>
              <a:t>Decision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350" b="0">
                <a:solidFill>
                  <a:srgbClr val="C2C0D6"/>
                </a:solidFill>
                <a:latin typeface="Poppins"/>
              </a:rPr>
              <a:t>Hand-loop for the linear Trip Planner — less code, fully legible.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350" b="0">
                <a:solidFill>
                  <a:srgbClr val="C2C0D6"/>
                </a:solidFill>
                <a:latin typeface="Poppins"/>
              </a:rPr>
              <a:t>LangGraph for the branching, human-in-the-loop Prospector — where interrupt + durable checkpoints actually earn their cost.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350" b="1">
                <a:solidFill>
                  <a:srgbClr val="F7DD85"/>
                </a:solidFill>
                <a:latin typeface="Poppins"/>
              </a:rPr>
              <a:t>Frameworks are not a quality lever — claiming so would be a confound.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