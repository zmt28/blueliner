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613400" cy="1714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400" b="1">
                <a:solidFill>
                  <a:srgbClr val="FFFFFF"/>
                </a:solidFill>
                <a:latin typeface="Poppins"/>
              </a:rPr>
              <a:t>How Trustworthiness Was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219075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Grounding and hard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84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Two mechanisms:</a:t>
            </a:r>
            <a:r>
              <a:rPr sz="1650" b="0">
                <a:solidFill>
                  <a:srgbClr val="FFFFFF"/>
                </a:solidFill>
                <a:latin typeface="Poppins"/>
              </a:rPr>
              <a:t> grounding and hard guardrails.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Grounding contract:</a:t>
            </a:r>
            <a:r>
              <a:rPr sz="1650" b="0">
                <a:solidFill>
                  <a:srgbClr val="FFFFFF"/>
                </a:solidFill>
                <a:latin typeface="Poppins"/>
              </a:rPr>
              <a:t> every number must trace to a tool result. If it can't, regenerate once, then strip it. (Hallucinated readings went from 100% to 0%.)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Guardrails are deterministic code, not prompts:</a:t>
            </a:r>
            <a:r>
              <a:rPr sz="1650" b="0">
                <a:solidFill>
                  <a:srgbClr val="FFFFFF"/>
                </a:solidFill>
                <a:latin typeface="Poppins"/>
              </a:rPr>
              <a:t> flood (flow over 3x the median), trout-ethics temperature band, private-access block, and staleness demotion.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The model advises; the rules decide.</a:t>
            </a:r>
            <a:r>
              <a:rPr sz="1650" b="0">
                <a:solidFill>
                  <a:srgbClr val="FFFFFF"/>
                </a:solidFill>
                <a:latin typeface="Poppins"/>
              </a:rPr>
              <a:t> v3 cannot recommend blocked water by 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743200"/>
            <a:ext cx="5156200" cy="34798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900" y="28321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GROUNDING +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900" y="3009900"/>
            <a:ext cx="4851400" cy="4191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1778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7DD85"/>
                </a:solidFill>
                <a:latin typeface="Poppins"/>
              </a:rPr>
              <a:t>Grounding contract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</a:pPr>
            <a:r>
              <a:rPr sz="1150" b="0">
                <a:solidFill>
                  <a:srgbClr val="C2C0D6"/>
                </a:solidFill>
                <a:latin typeface="Poppins"/>
              </a:rPr>
              <a:t>every number traces to a tool result, else regenerate then strip   </a:t>
            </a:r>
            <a:r>
              <a:rPr sz="1150" b="1">
                <a:solidFill>
                  <a:srgbClr val="5FB98C"/>
                </a:solidFill>
                <a:latin typeface="Poppins"/>
              </a:rPr>
              <a:t>hallucinations 100% → 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900" y="35052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HARD GUARDRAILS — deterministic, non-overridable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900" y="3695700"/>
            <a:ext cx="4851400" cy="3048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651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3778250"/>
            <a:ext cx="1651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Flood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9500" y="3784600"/>
            <a:ext cx="2159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Roboto Mono"/>
              </a:rPr>
              <a:t>flow &gt; 3×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700" y="3778250"/>
            <a:ext cx="952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0685C"/>
                </a:solidFill>
                <a:latin typeface="Poppins"/>
              </a:rPr>
              <a:t>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900" y="4051300"/>
            <a:ext cx="4851400" cy="3048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651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" y="4133850"/>
            <a:ext cx="1651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Too 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9500" y="4140200"/>
            <a:ext cx="2159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Roboto Mono"/>
              </a:rPr>
              <a:t>water &gt; 68°F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4133850"/>
            <a:ext cx="952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0685C"/>
                </a:solidFill>
                <a:latin typeface="Poppins"/>
              </a:rPr>
              <a:t>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900" y="4406900"/>
            <a:ext cx="4851400" cy="3048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6510">
            <a:solidFill>
              <a:srgbClr val="E2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4489450"/>
            <a:ext cx="1651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Too cold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9500" y="4495800"/>
            <a:ext cx="2159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Roboto Mono"/>
              </a:rPr>
              <a:t>water &lt; 40°F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700" y="4489450"/>
            <a:ext cx="952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2A24A"/>
                </a:solidFill>
                <a:latin typeface="Poppins"/>
              </a:rPr>
              <a:t>DEMOTE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900" y="4762500"/>
            <a:ext cx="4851400" cy="3048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651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900" y="4845050"/>
            <a:ext cx="1651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Private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9500" y="4851400"/>
            <a:ext cx="2159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Roboto Mono"/>
              </a:rPr>
              <a:t>no public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7700" y="4845050"/>
            <a:ext cx="952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0685C"/>
                </a:solidFill>
                <a:latin typeface="Poppins"/>
              </a:rPr>
              <a:t>BLOCK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900" y="5118100"/>
            <a:ext cx="4851400" cy="3048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6510">
            <a:solidFill>
              <a:srgbClr val="E2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900" y="5200650"/>
            <a:ext cx="1651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Staleness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49500" y="5207000"/>
            <a:ext cx="21590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Roboto Mono"/>
              </a:rPr>
              <a:t>reading too 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7700" y="5200650"/>
            <a:ext cx="9525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E2A24A"/>
                </a:solidFill>
                <a:latin typeface="Poppins"/>
              </a:rPr>
              <a:t>DEMOTE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900" y="5994400"/>
            <a:ext cx="48514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8E8CAB"/>
                </a:solidFill>
                <a:latin typeface="Poppins"/>
              </a:rPr>
              <a:t>the model advises  ·  the rules decide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6134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The Discovery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Finding water the maps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84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Discovery is finding undervalued inventory.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Official maps show only designated trout water, but plenty of fishable trout water is undesignated. That's invisible inventory.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Business analogy (Red Ventures): the value is in qualifying inventory the market has mispriced.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The Prospector surfaces undesignated-but-fishable reaches, ranked and qualified.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40000"/>
            <a:ext cx="5156200" cy="36576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900" y="26416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INVISIBLE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" y="28829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Designated — shown on the official 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900" y="3048000"/>
            <a:ext cx="1365250" cy="254000"/>
          </a:xfrm>
          <a:prstGeom prst="roundRect">
            <a:avLst>
              <a:gd name="adj" fmla="val 25000"/>
            </a:avLst>
          </a:prstGeom>
          <a:solidFill>
            <a:srgbClr val="5FB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2000" y="3098800"/>
            <a:ext cx="19050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5FB98C"/>
                </a:solidFill>
                <a:latin typeface="Poppins"/>
              </a:rPr>
              <a:t>36,378 reaches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900" y="34290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Undesignated — scanned by the Prospector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900" y="3594100"/>
            <a:ext cx="3810000" cy="254000"/>
          </a:xfrm>
          <a:prstGeom prst="roundRect">
            <a:avLst>
              <a:gd name="adj" fmla="val 25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0400" y="3644900"/>
            <a:ext cx="10160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7DD85"/>
                </a:solidFill>
                <a:latin typeface="Poppins"/>
              </a:rPr>
              <a:t>100K+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900" y="4051300"/>
            <a:ext cx="4851400" cy="5461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1778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Poppins"/>
              </a:rPr>
              <a:t>The value is in qualifying inventory the market has mispriced.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150" b="0">
                <a:solidFill>
                  <a:srgbClr val="F7DD85"/>
                </a:solidFill>
                <a:latin typeface="Poppins"/>
              </a:rPr>
              <a:t>the Red Ventures parallel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900" y="4749800"/>
            <a:ext cx="4851400" cy="0"/>
          </a:xfrm>
          <a:prstGeom prst="line">
            <a:avLst/>
          </a:prstGeom>
          <a:ln w="1524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6900" y="4851400"/>
            <a:ext cx="48514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Official maps list only state-designated trout water; plenty of fishable trout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900" y="4991100"/>
            <a:ext cx="48514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water is undesignated. The Prospector ranks that hidden pool.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381000"/>
            <a:ext cx="8509000" cy="76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800" b="1">
                <a:solidFill>
                  <a:srgbClr val="FFFFFF"/>
                </a:solidFill>
                <a:latin typeface="Poppins"/>
              </a:rPr>
              <a:t>Defining Negative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301750"/>
            <a:ext cx="8509000" cy="355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0">
                <a:solidFill>
                  <a:srgbClr val="FFFFFF"/>
                </a:solidFill>
                <a:latin typeface="Poppins"/>
              </a:rPr>
              <a:t>Deciding what NOT to surface is half of product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500" y="2095500"/>
            <a:ext cx="5549900" cy="330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>
                <a:solidFill>
                  <a:srgbClr val="FFFFFF"/>
                </a:solidFill>
                <a:latin typeface="Poppins"/>
              </a:rPr>
              <a:t>What to Exclude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2667000"/>
            <a:ext cx="5549900" cy="3556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FFFFFF"/>
                </a:solidFill>
                <a:latin typeface="Poppins"/>
              </a:rPr>
              <a:t>The bad result: </a:t>
            </a:r>
            <a:r>
              <a:rPr sz="1550" b="0">
                <a:solidFill>
                  <a:srgbClr val="C2C0D6"/>
                </a:solidFill>
                <a:latin typeface="Poppins"/>
              </a:rPr>
              <a:t>Elks Run, an undesignated reach on a stream we already show on the map (distance 0.0 mi).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FFFFFF"/>
                </a:solidFill>
                <a:latin typeface="Poppins"/>
              </a:rPr>
              <a:t>The judgment: </a:t>
            </a:r>
            <a:r>
              <a:rPr sz="1550" b="0">
                <a:solidFill>
                  <a:srgbClr val="C2C0D6"/>
                </a:solidFill>
                <a:latin typeface="Poppins"/>
              </a:rPr>
              <a:t>that's not a discovery. Obvious is as disqualifying as wrong.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FFFFFF"/>
                </a:solidFill>
                <a:latin typeface="Poppins"/>
              </a:rPr>
              <a:t>The decision: </a:t>
            </a:r>
            <a:r>
              <a:rPr sz="1550" b="0">
                <a:solidFill>
                  <a:srgbClr val="C2C0D6"/>
                </a:solidFill>
                <a:latin typeface="Poppins"/>
              </a:rPr>
              <a:t>exclude same-stream extensions, don't just relabel them. A clearer label on a useless result is still useless.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FFFFFF"/>
                </a:solidFill>
                <a:latin typeface="Poppins"/>
              </a:rPr>
              <a:t>Receipts: </a:t>
            </a:r>
            <a:r>
              <a:rPr sz="1550" b="0">
                <a:solidFill>
                  <a:srgbClr val="C2C0D6"/>
                </a:solidFill>
                <a:latin typeface="Poppins"/>
              </a:rPr>
              <a:t>we removed 29% of candidates, dropped distance-0 results to zero, and surfaced the real tributary leads. I reported the metric move with its cause.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>
                <a:solidFill>
                  <a:srgbClr val="F7DD85"/>
                </a:solidFill>
                <a:latin typeface="Poppins"/>
              </a:rPr>
              <a:t>A recommender's credibility dies the first time it tells you something you already know.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33000" y="381000"/>
            <a:ext cx="0" cy="6096000"/>
          </a:xfrm>
          <a:prstGeom prst="line">
            <a:avLst/>
          </a:prstGeom>
          <a:ln w="12700">
            <a:solidFill>
              <a:srgbClr val="55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4100" y="2095500"/>
            <a:ext cx="3733800" cy="41148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235200"/>
            <a:ext cx="38100" cy="3835400"/>
          </a:xfrm>
          <a:prstGeom prst="roundRect">
            <a:avLst>
              <a:gd name="adj" fmla="val 50000"/>
            </a:avLst>
          </a:prstGeom>
          <a:solidFill>
            <a:srgbClr val="E0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1900" y="2184400"/>
            <a:ext cx="34163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EXCLUDED — OBVIOUS, NOT USEFUL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500" y="2387600"/>
            <a:ext cx="3429000" cy="812800"/>
          </a:xfrm>
          <a:prstGeom prst="roundRect">
            <a:avLst>
              <a:gd name="adj" fmla="val 5000"/>
            </a:avLst>
          </a:prstGeom>
          <a:solidFill>
            <a:srgbClr val="232239"/>
          </a:solidFill>
          <a:ln w="17780">
            <a:solidFill>
              <a:srgbClr val="E0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63500" tIns="889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E0685C"/>
                </a:solidFill>
                <a:latin typeface="Poppins"/>
              </a:rPr>
              <a:t>✗  </a:t>
            </a:r>
            <a:r>
              <a:rPr sz="1600" b="1">
                <a:solidFill>
                  <a:srgbClr val="EBA59C"/>
                </a:solidFill>
                <a:latin typeface="Poppins"/>
              </a:rPr>
              <a:t>Elks Run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100"/>
              </a:spcAft>
            </a:pPr>
            <a:r>
              <a:rPr sz="1250" b="0">
                <a:solidFill>
                  <a:srgbClr val="C2C0D6"/>
                </a:solidFill>
                <a:latin typeface="Poppins"/>
              </a:rPr>
              <a:t>undesignated reach on a stream already on the map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8E8CAB"/>
                </a:solidFill>
                <a:latin typeface="Poppins"/>
              </a:rPr>
              <a:t>topology distance 0.0 mi — it is the map, relabeled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3314700"/>
            <a:ext cx="34290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THE RULE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500" y="3467100"/>
            <a:ext cx="3429000" cy="4445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1270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FFFFFF"/>
                </a:solidFill>
                <a:latin typeface="Poppins"/>
              </a:rPr>
              <a:t>Exclude same-stream extensions — don't just relabel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4000500"/>
            <a:ext cx="34290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E8CAB"/>
                </a:solidFill>
                <a:latin typeface="Poppins"/>
              </a:rPr>
              <a:t>RECEIPTS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4165600"/>
            <a:ext cx="3429000" cy="3810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5FB98C"/>
                </a:solidFill>
                <a:latin typeface="Poppins"/>
              </a:rPr>
              <a:t>−29%   </a:t>
            </a:r>
            <a:r>
              <a:rPr sz="1250" b="0">
                <a:solidFill>
                  <a:srgbClr val="C2C0D6"/>
                </a:solidFill>
                <a:latin typeface="Poppins"/>
              </a:rPr>
              <a:t>candidates removed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4610100"/>
            <a:ext cx="3429000" cy="3810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5FB98C"/>
                </a:solidFill>
                <a:latin typeface="Poppins"/>
              </a:rPr>
              <a:t>0   </a:t>
            </a:r>
            <a:r>
              <a:rPr sz="1250" b="0">
                <a:solidFill>
                  <a:srgbClr val="C2C0D6"/>
                </a:solidFill>
                <a:latin typeface="Poppins"/>
              </a:rPr>
              <a:t>distance-0 results (was many)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500" y="5054600"/>
            <a:ext cx="3429000" cy="381000"/>
          </a:xfrm>
          <a:prstGeom prst="roundRect">
            <a:avLst>
              <a:gd name="adj" fmla="val 10000"/>
            </a:avLst>
          </a:prstGeom>
          <a:solidFill>
            <a:srgbClr val="232239"/>
          </a:solidFill>
          <a:ln w="1524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5FB98C"/>
                </a:solidFill>
                <a:latin typeface="Poppins"/>
              </a:rPr>
              <a:t>✓   </a:t>
            </a:r>
            <a:r>
              <a:rPr sz="1250" b="0">
                <a:solidFill>
                  <a:srgbClr val="C2C0D6"/>
                </a:solidFill>
                <a:latin typeface="Poppins"/>
              </a:rPr>
              <a:t>real tributary leads surfaced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5930900"/>
            <a:ext cx="3429000" cy="19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8E8CAB"/>
                </a:solidFill>
                <a:latin typeface="Poppins"/>
              </a:rPr>
              <a:t>obvious is as disqualifying as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6134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Shipping It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Bound the downside before it bites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84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The threat:</a:t>
            </a:r>
            <a:r>
              <a:rPr sz="1650" b="0">
                <a:solidFill>
                  <a:srgbClr val="FFFFFF"/>
                </a:solidFill>
                <a:latin typeface="Poppins"/>
              </a:rPr>
              <a:t> the public app becoming a free, unmetered proxy to my API key.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Four independent layers, any one sufficient: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2C0D6"/>
                </a:solidFill>
                <a:latin typeface="Poppins"/>
              </a:rPr>
              <a:t>The public app never mounts the endpoint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2C0D6"/>
                </a:solidFill>
                <a:latin typeface="Poppins"/>
              </a:rPr>
              <a:t>Agent deps aren't in the production image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2C0D6"/>
                </a:solidFill>
                <a:latin typeface="Poppins"/>
              </a:rPr>
              <a:t>No key on the web service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C2C0D6"/>
                </a:solidFill>
                <a:latin typeface="Poppins"/>
              </a:rPr>
              <a:t>Off by default, behind a flag and optional token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Blast-radius insurance:</a:t>
            </a:r>
            <a:r>
              <a:rPr sz="1650" b="0">
                <a:solidFill>
                  <a:srgbClr val="FFFFFF"/>
                </a:solidFill>
                <a:latin typeface="Poppins"/>
              </a:rPr>
              <a:t> a dedicated, spend-capped, revocable key.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Can I 110% guarantee it's safe? No one can, so I bounded the downside instead.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40000"/>
            <a:ext cx="5156200" cy="36576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900" y="26416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API-KEY SAFETY — FOUR INDEPENDENT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" y="27940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7DD85"/>
                </a:solidFill>
                <a:latin typeface="Poppins"/>
              </a:rPr>
              <a:t>any one layer is sufficient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900" y="3009900"/>
            <a:ext cx="4851400" cy="431800"/>
          </a:xfrm>
          <a:prstGeom prst="roundRect">
            <a:avLst>
              <a:gd name="adj" fmla="val 8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1200" y="31305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14325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Poppins"/>
              </a:rPr>
              <a:t>The public app never mounts the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900" y="3530600"/>
            <a:ext cx="4851400" cy="431800"/>
          </a:xfrm>
          <a:prstGeom prst="roundRect">
            <a:avLst>
              <a:gd name="adj" fmla="val 8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200" y="3651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66395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Poppins"/>
              </a:rPr>
              <a:t>Agent deps aren't in the production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900" y="4051300"/>
            <a:ext cx="4851400" cy="431800"/>
          </a:xfrm>
          <a:prstGeom prst="roundRect">
            <a:avLst>
              <a:gd name="adj" fmla="val 8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1200" y="4171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18465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Poppins"/>
              </a:rPr>
              <a:t>No key on the web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900" y="4572000"/>
            <a:ext cx="4851400" cy="431800"/>
          </a:xfrm>
          <a:prstGeom prst="roundRect">
            <a:avLst>
              <a:gd name="adj" fmla="val 8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1200" y="4692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470535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Poppins"/>
              </a:rPr>
              <a:t>Off by default — behind a flag + optional token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900" y="5130800"/>
            <a:ext cx="4851400" cy="419100"/>
          </a:xfrm>
          <a:prstGeom prst="roundRect">
            <a:avLst>
              <a:gd name="adj" fmla="val 6000"/>
            </a:avLst>
          </a:prstGeom>
          <a:solidFill>
            <a:srgbClr val="232239"/>
          </a:solidFill>
          <a:ln w="17780">
            <a:solidFill>
              <a:srgbClr val="5FB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63500" tIns="38100" bIns="381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FB98C"/>
                </a:solidFill>
                <a:latin typeface="Poppins"/>
              </a:rPr>
              <a:t>Blast-radius insurance: </a:t>
            </a:r>
            <a:r>
              <a:rPr sz="1300" b="0">
                <a:solidFill>
                  <a:srgbClr val="FFFFFF"/>
                </a:solidFill>
                <a:latin typeface="Poppins"/>
              </a:rPr>
              <a:t>a dedicated, spend-capped, revocable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419100"/>
            <a:ext cx="5613400" cy="14605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5000" b="1">
                <a:solidFill>
                  <a:srgbClr val="FFFFFF"/>
                </a:solidFill>
                <a:latin typeface="Poppins"/>
              </a:rPr>
              <a:t>Roadmap: What I'd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1905000"/>
            <a:ext cx="4889500" cy="381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0">
                <a:solidFill>
                  <a:srgbClr val="FFFFFF"/>
                </a:solidFill>
                <a:latin typeface="Poppins"/>
              </a:rPr>
              <a:t>Highest-leverage moves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44500"/>
            <a:ext cx="5549900" cy="5842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Human in the Loop integrated into UI/UX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Close the access data gap by wiring public-land polygons. The bottleneck is data coverage of the binding constraint, not modeling.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Use exact flow-network topology (NLDI) for the shortlist.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Grow the confirm/deny flywheel so calibration improves as anglers confirm.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>
                <a:solidFill>
                  <a:srgbClr val="FFFFFF"/>
                </a:solidFill>
                <a:latin typeface="Poppins"/>
              </a:rPr>
              <a:t>The eval pointed at the roadmap, not at a better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6451600"/>
            <a:ext cx="25400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E8CAB"/>
                </a:solidFill>
                <a:latin typeface="Poppins"/>
              </a:rPr>
              <a:t>BlueLiner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500" y="2540000"/>
            <a:ext cx="5156200" cy="3657600"/>
          </a:xfrm>
          <a:prstGeom prst="roundRect">
            <a:avLst>
              <a:gd name="adj" fmla="val 3000"/>
            </a:avLst>
          </a:prstGeom>
          <a:solidFill>
            <a:srgbClr val="38365C"/>
          </a:solidFill>
          <a:ln w="1905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900" y="2641600"/>
            <a:ext cx="49022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8E8CAB"/>
                </a:solidFill>
                <a:latin typeface="Poppins"/>
              </a:rPr>
              <a:t>WHAT I'D DO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6900" y="2870200"/>
            <a:ext cx="4851400" cy="520700"/>
          </a:xfrm>
          <a:prstGeom prst="roundRect">
            <a:avLst>
              <a:gd name="adj" fmla="val 7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1200" y="30353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55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95910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Poppins"/>
              </a:rPr>
              <a:t>Human-in-the-loop in the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149600"/>
            <a:ext cx="42037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make the headless confirm interactive (interrupt + resume)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900" y="3467100"/>
            <a:ext cx="4851400" cy="520700"/>
          </a:xfrm>
          <a:prstGeom prst="roundRect">
            <a:avLst>
              <a:gd name="adj" fmla="val 7000"/>
            </a:avLst>
          </a:prstGeom>
          <a:solidFill>
            <a:srgbClr val="232239"/>
          </a:solidFill>
          <a:ln w="27940">
            <a:solidFill>
              <a:srgbClr val="F0C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200" y="36322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0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55600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7DD85"/>
                </a:solidFill>
                <a:latin typeface="Poppins"/>
              </a:rPr>
              <a:t>Close the access data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746500"/>
            <a:ext cx="42037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wire PAD-US public-land polygons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860800"/>
            <a:ext cx="4203700" cy="1270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7DD85"/>
                </a:solidFill>
                <a:latin typeface="Poppins"/>
              </a:rPr>
              <a:t>highest leverage · the binding constraint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900" y="4064000"/>
            <a:ext cx="4851400" cy="520700"/>
          </a:xfrm>
          <a:prstGeom prst="roundRect">
            <a:avLst>
              <a:gd name="adj" fmla="val 7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1200" y="4229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55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415290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Poppins"/>
              </a:rPr>
              <a:t>Exact flow-network topology (NLDI)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4343400"/>
            <a:ext cx="42037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for the shortlist ranking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900" y="4660900"/>
            <a:ext cx="4851400" cy="520700"/>
          </a:xfrm>
          <a:prstGeom prst="roundRect">
            <a:avLst>
              <a:gd name="adj" fmla="val 7000"/>
            </a:avLst>
          </a:prstGeom>
          <a:solidFill>
            <a:srgbClr val="232239"/>
          </a:solidFill>
          <a:ln w="15240">
            <a:solidFill>
              <a:srgbClr val="55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1200" y="4826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55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63500" tIns="38100" bIns="381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32239"/>
                </a:solidFill>
                <a:latin typeface="Poppi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4749800"/>
            <a:ext cx="4203700" cy="1651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Poppins"/>
              </a:rPr>
              <a:t>Grow the confirm/deny flywheel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4940300"/>
            <a:ext cx="4203700" cy="152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C2C0D6"/>
                </a:solidFill>
                <a:latin typeface="Poppins"/>
              </a:rPr>
              <a:t>calibration improves as anglers 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900" y="5943600"/>
            <a:ext cx="4851400" cy="177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7DD85"/>
                </a:solidFill>
                <a:latin typeface="Poppins"/>
              </a:rPr>
              <a:t>the eval pointed at the roadmap, not at a better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