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613400" cy="146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0" b="1">
                <a:solidFill>
                  <a:srgbClr val="FFFFFF"/>
                </a:solidFill>
                <a:latin typeface="Poppins"/>
              </a:rPr>
              <a:t>Context &amp;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905000"/>
            <a:ext cx="50800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What the agent needs to know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905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FFFFFF"/>
                </a:solidFill>
                <a:latin typeface="Poppins"/>
              </a:rPr>
              <a:t>A trustworthy agent needs durable context and hard contracts, not just a capable model.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Contracts:</a:t>
            </a:r>
            <a:r>
              <a:rPr sz="1600" b="0">
                <a:solidFill>
                  <a:srgbClr val="FFFFFF"/>
                </a:solidFill>
                <a:latin typeface="Poppins"/>
              </a:rPr>
              <a:t> a structured output schema (every recommendation carries a verdict, score, confidence, reasons, and sources) plus typed MCP tool I/O. The grounding contract makes sources mandatory.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Durable context:</a:t>
            </a:r>
            <a:r>
              <a:rPr sz="1600" b="0">
                <a:solidFill>
                  <a:srgbClr val="FFFFFF"/>
                </a:solidFill>
                <a:latin typeface="Poppins"/>
              </a:rPr>
              <a:t> per-user catch-log memory (your proven temperature and flow bands), 30-year medians for today's date, and the scorer's domain constants. Thresholds are encoded knowledge, not guesses.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Prompts as code:</a:t>
            </a:r>
            <a:r>
              <a:rPr sz="1600" b="0">
                <a:solidFill>
                  <a:srgbClr val="FFFFFF"/>
                </a:solidFill>
                <a:latin typeface="Poppins"/>
              </a:rPr>
              <a:t> system, ranker, and prospector prompts are versioned files I can diff, not strings in a notebook.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Rules and permissions:</a:t>
            </a:r>
            <a:r>
              <a:rPr sz="1600" b="0">
                <a:solidFill>
                  <a:srgbClr val="FFFFFF"/>
                </a:solidFill>
                <a:latin typeface="Poppins"/>
              </a:rPr>
              <a:t> legality, ethics, flood, and staleness are deterministic; the agent runs under a gated, off-by-default permission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540000"/>
            <a:ext cx="5156200" cy="36576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26289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8E8CAB"/>
                </a:solidFill>
                <a:latin typeface="Poppins"/>
              </a:rPr>
              <a:t>WHAT THE AGENT NEEDS TO KNOW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2832100"/>
            <a:ext cx="2393950" cy="1568450"/>
          </a:xfrm>
          <a:prstGeom prst="roundRect">
            <a:avLst>
              <a:gd name="adj" fmla="val 5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76200" tIns="889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7DD85"/>
                </a:solidFill>
                <a:latin typeface="Poppins"/>
              </a:rPr>
              <a:t>SCHEMAS · CONTRACTS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Roboto Mono"/>
              </a:rPr>
              <a:t>REC_SCHEMA: verdict · score ·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Roboto Mono"/>
              </a:rPr>
              <a:t>confidence · why[] · sources[]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150" b="0">
                <a:solidFill>
                  <a:srgbClr val="C2C0D6"/>
                </a:solidFill>
                <a:latin typeface="Poppins"/>
              </a:rPr>
              <a:t>typed MCP tool I/O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100"/>
              </a:spcAft>
            </a:pPr>
            <a:r>
              <a:rPr sz="1150" b="0">
                <a:solidFill>
                  <a:srgbClr val="C2C0D6"/>
                </a:solidFill>
                <a:latin typeface="Poppins"/>
              </a:rPr>
              <a:t>grounding: every number cites a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7050" y="2832100"/>
            <a:ext cx="2393950" cy="1568450"/>
          </a:xfrm>
          <a:prstGeom prst="roundRect">
            <a:avLst>
              <a:gd name="adj" fmla="val 5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76200" tIns="889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7DD85"/>
                </a:solidFill>
                <a:latin typeface="Poppins"/>
              </a:rPr>
              <a:t>PROMPTS · versioned in git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Roboto Mono"/>
              </a:rPr>
              <a:t>system.md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Roboto Mono"/>
              </a:rPr>
              <a:t>ranker.md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Roboto Mono"/>
              </a:rPr>
              <a:t>prospector_system.md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C2C0D6"/>
                </a:solidFill>
                <a:latin typeface="Poppins"/>
              </a:rPr>
              <a:t>files I can diff, not notebook strings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4200" y="4489450"/>
            <a:ext cx="2393950" cy="1568450"/>
          </a:xfrm>
          <a:prstGeom prst="roundRect">
            <a:avLst>
              <a:gd name="adj" fmla="val 5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76200" tIns="889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7DD85"/>
                </a:solidFill>
                <a:latin typeface="Poppins"/>
              </a:rPr>
              <a:t>DURABLE CONTEXT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  <a:latin typeface="Poppins"/>
              </a:rPr>
              <a:t>catch-log memory: your temp + flow bands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C2C0D6"/>
                </a:solidFill>
                <a:latin typeface="Poppins"/>
              </a:rPr>
              <a:t>30-yr USGS medians for today's date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C2C0D6"/>
                </a:solidFill>
                <a:latin typeface="Poppins"/>
              </a:rPr>
              <a:t>scorer domain constants (encoded knowledge)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7050" y="4489450"/>
            <a:ext cx="2393950" cy="1568450"/>
          </a:xfrm>
          <a:prstGeom prst="roundRect">
            <a:avLst>
              <a:gd name="adj" fmla="val 5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76200" tIns="889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7DD85"/>
                </a:solidFill>
                <a:latin typeface="Poppins"/>
              </a:rPr>
              <a:t>BUSINESS RULES · PERMISSIONS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FFFFF"/>
                </a:solidFill>
                <a:latin typeface="Poppins"/>
              </a:rPr>
              <a:t>legality · ethics · flood · staleness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0">
                <a:solidFill>
                  <a:srgbClr val="C2C0D6"/>
                </a:solidFill>
                <a:latin typeface="Poppins"/>
              </a:rPr>
              <a:t>deterministic, non-overridable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C2C0D6"/>
                </a:solidFill>
                <a:latin typeface="Poppins"/>
              </a:rPr>
              <a:t>gated, off-by-default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613400" cy="1714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400" b="1">
                <a:solidFill>
                  <a:srgbClr val="FFFFFF"/>
                </a:solidFill>
                <a:latin typeface="Poppins"/>
              </a:rPr>
              <a:t>How Trustworthiness Was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2190750"/>
            <a:ext cx="50800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Grounding, guardrails, and live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905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Two mechanisms:</a:t>
            </a:r>
            <a:r>
              <a:rPr sz="1600" b="0">
                <a:solidFill>
                  <a:srgbClr val="FFFFFF"/>
                </a:solidFill>
                <a:latin typeface="Poppins"/>
              </a:rPr>
              <a:t> grounding and hard guardrails.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Grounding contract:</a:t>
            </a:r>
            <a:r>
              <a:rPr sz="1600" b="0">
                <a:solidFill>
                  <a:srgbClr val="FFFFFF"/>
                </a:solidFill>
                <a:latin typeface="Poppins"/>
              </a:rPr>
              <a:t> every number must trace to a tool result. If it can't, regenerate once, then strip it. (Hallucinated readings went from 100% to 0%.)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Guardrails are deterministic code, not prompts:</a:t>
            </a:r>
            <a:r>
              <a:rPr sz="1600" b="0">
                <a:solidFill>
                  <a:srgbClr val="FFFFFF"/>
                </a:solidFill>
                <a:latin typeface="Poppins"/>
              </a:rPr>
              <a:t> flood (flow over 3x the median), trout-ethics temperature band, private-access block, and staleness demotion.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The model advises; the rules decide.</a:t>
            </a:r>
            <a:r>
              <a:rPr sz="1600" b="0">
                <a:solidFill>
                  <a:srgbClr val="FFFFFF"/>
                </a:solidFill>
                <a:latin typeface="Poppins"/>
              </a:rPr>
              <a:t> v3 cannot recommend blocked water by construction.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And we watch it in production:</a:t>
            </a:r>
            <a:r>
              <a:rPr sz="1600" b="0">
                <a:solidFill>
                  <a:srgbClr val="FFFFFF"/>
                </a:solidFill>
                <a:latin typeface="Poppins"/>
              </a:rPr>
              <a:t> every veto is logged with its reason, every decision is traced (tools, latency, cost, grounding), and a proactive watch flags condition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667000"/>
            <a:ext cx="5156200" cy="29845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900" y="27305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8E8CAB"/>
                </a:solidFill>
                <a:latin typeface="Poppins"/>
              </a:rPr>
              <a:t>GROUNDING +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900" y="2882900"/>
            <a:ext cx="4851400" cy="368300"/>
          </a:xfrm>
          <a:prstGeom prst="roundRect">
            <a:avLst>
              <a:gd name="adj" fmla="val 6000"/>
            </a:avLst>
          </a:prstGeom>
          <a:solidFill>
            <a:srgbClr val="232239"/>
          </a:solidFill>
          <a:ln w="1778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7DD85"/>
                </a:solidFill>
                <a:latin typeface="Poppins"/>
              </a:rPr>
              <a:t>Grounding contract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every number traces to a tool result, else regenerate then strip   </a:t>
            </a:r>
            <a:r>
              <a:rPr sz="1100" b="1">
                <a:solidFill>
                  <a:srgbClr val="5FB98C"/>
                </a:solidFill>
                <a:latin typeface="Poppins"/>
              </a:rPr>
              <a:t>hallucinations 100% → 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900" y="3302000"/>
            <a:ext cx="4902200" cy="1143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HARD GUARDRAILS — deterministic, non-overridable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900" y="3454400"/>
            <a:ext cx="4851400" cy="2413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524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200" y="3511550"/>
            <a:ext cx="1587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Flood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6800" y="3517900"/>
            <a:ext cx="2095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Roboto Mono"/>
              </a:rPr>
              <a:t>flow &gt; 3×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3100" y="3511550"/>
            <a:ext cx="939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0685C"/>
                </a:solidFill>
                <a:latin typeface="Poppins"/>
              </a:rPr>
              <a:t>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900" y="3733800"/>
            <a:ext cx="4851400" cy="2413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524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200" y="3790950"/>
            <a:ext cx="1587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Too warm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6800" y="3797300"/>
            <a:ext cx="2095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Roboto Mono"/>
              </a:rPr>
              <a:t>water &gt; 68°F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100" y="3790950"/>
            <a:ext cx="939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0685C"/>
                </a:solidFill>
                <a:latin typeface="Poppins"/>
              </a:rPr>
              <a:t>BLOCK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900" y="4013200"/>
            <a:ext cx="4851400" cy="2413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5240">
            <a:solidFill>
              <a:srgbClr val="E2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200" y="4070350"/>
            <a:ext cx="1587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Too cold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6800" y="4076700"/>
            <a:ext cx="2095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Roboto Mono"/>
              </a:rPr>
              <a:t>water &lt; 40°F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3100" y="4070350"/>
            <a:ext cx="939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2A24A"/>
                </a:solidFill>
                <a:latin typeface="Poppins"/>
              </a:rPr>
              <a:t>DEMOTE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900" y="4292600"/>
            <a:ext cx="4851400" cy="2413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524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200" y="4349750"/>
            <a:ext cx="1587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Private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6800" y="4356100"/>
            <a:ext cx="2095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Roboto Mono"/>
              </a:rPr>
              <a:t>no public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3100" y="4349750"/>
            <a:ext cx="939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0685C"/>
                </a:solidFill>
                <a:latin typeface="Poppins"/>
              </a:rPr>
              <a:t>BLOCK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900" y="4572000"/>
            <a:ext cx="4851400" cy="2413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5240">
            <a:solidFill>
              <a:srgbClr val="E2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200" y="4629150"/>
            <a:ext cx="1587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Staleness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6800" y="4635500"/>
            <a:ext cx="20955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Roboto Mono"/>
              </a:rPr>
              <a:t>reading too 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3100" y="4629150"/>
            <a:ext cx="9398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E2A24A"/>
                </a:solidFill>
                <a:latin typeface="Poppins"/>
              </a:rPr>
              <a:t>DEMOTE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6900" y="4889500"/>
            <a:ext cx="4851400" cy="0"/>
          </a:xfrm>
          <a:prstGeom prst="line">
            <a:avLst/>
          </a:prstGeom>
          <a:ln w="1524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6900" y="4965700"/>
            <a:ext cx="4851400" cy="546100"/>
          </a:xfrm>
          <a:prstGeom prst="roundRect">
            <a:avLst>
              <a:gd name="adj" fmla="val 6000"/>
            </a:avLst>
          </a:prstGeom>
          <a:solidFill>
            <a:srgbClr val="232239"/>
          </a:solidFill>
          <a:ln w="16510">
            <a:solidFill>
              <a:srgbClr val="A89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63500" tIns="6985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5BEF2"/>
                </a:solidFill>
                <a:latin typeface="Poppins"/>
              </a:rPr>
              <a:t>MONITORED IN PRODUCTION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2C0D6"/>
                </a:solidFill>
                <a:latin typeface="Poppins"/>
              </a:rPr>
              <a:t>every veto logged with its reason · every decision traced (tools · latency · cost · grounding) · proactive condition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