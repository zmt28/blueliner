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419100"/>
            <a:ext cx="5080000" cy="146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00" b="1">
                <a:solidFill>
                  <a:srgbClr val="FFFFFF"/>
                </a:solidFill>
                <a:latin typeface="Poppins"/>
              </a:rPr>
              <a:t>Operating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1905000"/>
            <a:ext cx="48895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0">
                <a:solidFill>
                  <a:srgbClr val="FFFFFF"/>
                </a:solidFill>
                <a:latin typeface="Poppins"/>
              </a:rPr>
              <a:t>Clarity over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44500"/>
            <a:ext cx="5549900" cy="5715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Legibility over cleverness. It's optimized for explainability end to end.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Inspectable: it's a hand-written tool loop, not a black box, so you can walk through every step.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Single source of truth: the deterministic scorer is both the agent's tool and the eval's oracle, the same code.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Visible evolution: the v0 to v3 progression lives in git, and I show what didn't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2540000"/>
            <a:ext cx="5156200" cy="3771900"/>
          </a:xfrm>
          <a:prstGeom prst="roundRect">
            <a:avLst>
              <a:gd name="adj" fmla="val 3000"/>
            </a:avLst>
          </a:prstGeom>
          <a:solidFill>
            <a:srgbClr val="232239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2600" y="2679700"/>
            <a:ext cx="38100" cy="3086100"/>
          </a:xfrm>
          <a:prstGeom prst="roundRect">
            <a:avLst>
              <a:gd name="adj" fmla="val 50000"/>
            </a:avLst>
          </a:prstGeom>
          <a:solidFill>
            <a:srgbClr val="F0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300" y="2628900"/>
            <a:ext cx="39370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8E8CAB"/>
                </a:solidFill>
                <a:latin typeface="Poppins"/>
              </a:rPr>
              <a:t>ONE DECISION, FULLY TRACED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300" y="2781300"/>
            <a:ext cx="48006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Poppins"/>
              </a:rPr>
              <a:t>“Beaver Creek near Hagerstown: worth it this weekend?”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2984500"/>
            <a:ext cx="48006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Poppins"/>
              </a:rPr>
              <a:t>Haiku drives retrieval  ·  Sonnet writes the ranking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2300" y="3200400"/>
            <a:ext cx="4800600" cy="0"/>
          </a:xfrm>
          <a:prstGeom prst="line">
            <a:avLst/>
          </a:prstGeom>
          <a:ln w="1524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2300" y="3251200"/>
            <a:ext cx="26670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TOOLS CALLED, IN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3441700"/>
            <a:ext cx="2095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0C84C"/>
                </a:solidFill>
                <a:latin typeface="Roboto Mono"/>
              </a:rPr>
              <a:t>1   </a:t>
            </a:r>
            <a:r>
              <a:rPr sz="1350" b="0">
                <a:solidFill>
                  <a:srgbClr val="FFFFFF"/>
                </a:solidFill>
                <a:latin typeface="Roboto Mono"/>
              </a:rPr>
              <a:t>get_candidate_rivers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3619500"/>
            <a:ext cx="2095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0C84C"/>
                </a:solidFill>
                <a:latin typeface="Roboto Mono"/>
              </a:rPr>
              <a:t>2   </a:t>
            </a:r>
            <a:r>
              <a:rPr sz="1350" b="0">
                <a:solidFill>
                  <a:srgbClr val="FFFFFF"/>
                </a:solidFill>
                <a:latin typeface="Roboto Mono"/>
              </a:rPr>
              <a:t>get_forecast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0500" y="3619500"/>
            <a:ext cx="2095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Roboto Mono"/>
              </a:rPr>
              <a:t>NOAA ·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400" y="3797300"/>
            <a:ext cx="2095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0C84C"/>
                </a:solidFill>
                <a:latin typeface="Roboto Mono"/>
              </a:rPr>
              <a:t>3   </a:t>
            </a:r>
            <a:r>
              <a:rPr sz="1350" b="0">
                <a:solidFill>
                  <a:srgbClr val="FFFFFF"/>
                </a:solidFill>
                <a:latin typeface="Roboto Mono"/>
              </a:rPr>
              <a:t>get_river_conditions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0500" y="3797300"/>
            <a:ext cx="2095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Roboto Mono"/>
              </a:rPr>
              <a:t>2 rivers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" y="3975100"/>
            <a:ext cx="2095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0C84C"/>
                </a:solidFill>
                <a:latin typeface="Roboto Mono"/>
              </a:rPr>
              <a:t>4   </a:t>
            </a:r>
            <a:r>
              <a:rPr sz="1350" b="0">
                <a:solidFill>
                  <a:srgbClr val="FFFFFF"/>
                </a:solidFill>
                <a:latin typeface="Roboto Mono"/>
              </a:rPr>
              <a:t>get_access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0500" y="3975100"/>
            <a:ext cx="2095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Roboto Mono"/>
              </a:rPr>
              <a:t>2 rivers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00" y="4152900"/>
            <a:ext cx="2095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0C84C"/>
                </a:solidFill>
                <a:latin typeface="Roboto Mono"/>
              </a:rPr>
              <a:t>5   </a:t>
            </a:r>
            <a:r>
              <a:rPr sz="1350" b="0">
                <a:solidFill>
                  <a:srgbClr val="FFFFFF"/>
                </a:solidFill>
                <a:latin typeface="Roboto Mono"/>
              </a:rPr>
              <a:t>get_user_catch_history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2300" y="4419600"/>
            <a:ext cx="4800600" cy="0"/>
          </a:xfrm>
          <a:prstGeom prst="line">
            <a:avLst/>
          </a:prstGeom>
          <a:ln w="1524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2300" y="4508500"/>
            <a:ext cx="2032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E0685C"/>
                </a:solidFill>
                <a:latin typeface="Poppins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4521200"/>
            <a:ext cx="45974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EBA59C"/>
                </a:solidFill>
                <a:latin typeface="Poppins"/>
              </a:rPr>
              <a:t>beaver-creek-md   blocked: private-only access, no public 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00" y="4762500"/>
            <a:ext cx="2032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FB98C"/>
                </a:solidFill>
                <a:latin typeface="Poppin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4762500"/>
            <a:ext cx="45974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5FB98C"/>
                </a:solidFill>
                <a:latin typeface="Poppins"/>
              </a:rPr>
              <a:t>Gunpowder Falls   (green)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4965700"/>
            <a:ext cx="45974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Poppins"/>
              </a:rPr>
              <a:t>56°F  ·  flow 1.09x median  ·  6 public access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5118100"/>
            <a:ext cx="45974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8E8CAB"/>
                </a:solidFill>
                <a:latin typeface="Poppins"/>
              </a:rPr>
              <a:t>within your proven brown + rainbow trout bands; fresh reading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6100" y="5969000"/>
            <a:ext cx="4953000" cy="0"/>
          </a:xfrm>
          <a:prstGeom prst="line">
            <a:avLst/>
          </a:prstGeom>
          <a:ln w="1524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4500" y="6057900"/>
            <a:ext cx="51562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Roboto Mono"/>
              </a:rPr>
              <a:t>grounding ok </a:t>
            </a:r>
            <a:r>
              <a:rPr sz="1250" b="1">
                <a:solidFill>
                  <a:srgbClr val="5FB98C"/>
                </a:solidFill>
                <a:latin typeface="Roboto Mono"/>
              </a:rPr>
              <a:t>✓</a:t>
            </a:r>
            <a:r>
              <a:rPr sz="1250" b="0">
                <a:solidFill>
                  <a:srgbClr val="C2C0D6"/>
                </a:solidFill>
                <a:latin typeface="Roboto Mono"/>
              </a:rPr>
              <a:t>    unsourced: none     ·     16.6 s     ·     $0.023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419100"/>
            <a:ext cx="5080000" cy="146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00" b="1">
                <a:solidFill>
                  <a:srgbClr val="FFFFFF"/>
                </a:solidFill>
                <a:latin typeface="Poppins"/>
              </a:rPr>
              <a:t>How I Measured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1905000"/>
            <a:ext cx="48895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0">
                <a:solidFill>
                  <a:srgbClr val="FFFFFF"/>
                </a:solidFill>
                <a:latin typeface="Poppins"/>
              </a:rPr>
              <a:t>The Eval Is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44500"/>
            <a:ext cx="5549900" cy="5715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Evaluated against a deterministic oracle: BlueLiner's own scorer, parity-tested in 840 cases against production.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25 scenarios: ideal, flood, too-warm, private, stale, adversarial, memory, ties, and all-blocked.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Honest caveat: safety at 0% in v1 and v2 is luck. Only v3 cannot recommend blocked water by construction.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Honest caveat: personalization is confounded (n=4), so the durable signal is qualitative.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2540000"/>
            <a:ext cx="5156200" cy="3771900"/>
          </a:xfrm>
          <a:prstGeom prst="roundRect">
            <a:avLst>
              <a:gd name="adj" fmla="val 3000"/>
            </a:avLst>
          </a:prstGeom>
          <a:solidFill>
            <a:srgbClr val="38365C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2300" y="2628900"/>
            <a:ext cx="33020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8E8CAB"/>
                </a:solidFill>
                <a:latin typeface="Poppins"/>
              </a:rPr>
              <a:t>v3 EVAL  ·  25 SCENARIOS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" y="2844800"/>
            <a:ext cx="2324100" cy="584200"/>
          </a:xfrm>
          <a:prstGeom prst="roundRect">
            <a:avLst>
              <a:gd name="adj" fmla="val 7000"/>
            </a:avLst>
          </a:prstGeom>
          <a:solidFill>
            <a:srgbClr val="232239"/>
          </a:solidFill>
          <a:ln w="2032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200" b="1">
                <a:solidFill>
                  <a:srgbClr val="5FB98C"/>
                </a:solidFill>
                <a:latin typeface="Poppins"/>
              </a:rPr>
              <a:t>0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Poppins"/>
              </a:rPr>
              <a:t>safety violations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8800" y="2844800"/>
            <a:ext cx="2324100" cy="584200"/>
          </a:xfrm>
          <a:prstGeom prst="roundRect">
            <a:avLst>
              <a:gd name="adj" fmla="val 7000"/>
            </a:avLst>
          </a:prstGeom>
          <a:solidFill>
            <a:srgbClr val="232239"/>
          </a:solidFill>
          <a:ln w="2032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200" b="1">
                <a:solidFill>
                  <a:srgbClr val="5FB98C"/>
                </a:solidFill>
                <a:latin typeface="Poppins"/>
              </a:rPr>
              <a:t>0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Poppins"/>
              </a:rPr>
              <a:t>hallucinated readings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3530600"/>
            <a:ext cx="38100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TOP-1 AGREEMENT, BY SCENARIO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" y="3721100"/>
            <a:ext cx="2324100" cy="3048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Poppins"/>
              </a:rPr>
              <a:t>adversarial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0900" y="3803650"/>
            <a:ext cx="7493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5FB98C"/>
                </a:solidFill>
                <a:latin typeface="Poppins"/>
              </a:rPr>
              <a:t>100% </a:t>
            </a:r>
            <a:r>
              <a:rPr sz="1350" b="1">
                <a:solidFill>
                  <a:srgbClr val="5FB98C"/>
                </a:solidFill>
                <a:latin typeface="Poppins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98800" y="3721100"/>
            <a:ext cx="2324100" cy="3048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Poppins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400" y="3803650"/>
            <a:ext cx="7493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5FB98C"/>
                </a:solidFill>
                <a:latin typeface="Poppins"/>
              </a:rPr>
              <a:t>100% </a:t>
            </a:r>
            <a:r>
              <a:rPr sz="1350" b="1">
                <a:solidFill>
                  <a:srgbClr val="5FB98C"/>
                </a:solidFill>
                <a:latin typeface="Poppins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" y="4089400"/>
            <a:ext cx="2324100" cy="3048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Poppins"/>
              </a:rPr>
              <a:t>all-blocked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0900" y="4171950"/>
            <a:ext cx="7493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5FB98C"/>
                </a:solidFill>
                <a:latin typeface="Poppins"/>
              </a:rPr>
              <a:t>100% </a:t>
            </a:r>
            <a:r>
              <a:rPr sz="1350" b="1">
                <a:solidFill>
                  <a:srgbClr val="5FB98C"/>
                </a:solidFill>
                <a:latin typeface="Poppins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98800" y="4089400"/>
            <a:ext cx="2324100" cy="3048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Poppins"/>
              </a:rPr>
              <a:t>private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7400" y="4171950"/>
            <a:ext cx="7493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5FB98C"/>
                </a:solidFill>
                <a:latin typeface="Poppins"/>
              </a:rPr>
              <a:t>100% </a:t>
            </a:r>
            <a:r>
              <a:rPr sz="1350" b="1">
                <a:solidFill>
                  <a:srgbClr val="5FB98C"/>
                </a:solidFill>
                <a:latin typeface="Poppins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" y="4457700"/>
            <a:ext cx="2324100" cy="3048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Poppins"/>
              </a:rPr>
              <a:t>flood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0900" y="4540250"/>
            <a:ext cx="7493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5FB98C"/>
                </a:solidFill>
                <a:latin typeface="Poppins"/>
              </a:rPr>
              <a:t>100% </a:t>
            </a:r>
            <a:r>
              <a:rPr sz="1350" b="1">
                <a:solidFill>
                  <a:srgbClr val="5FB98C"/>
                </a:solidFill>
                <a:latin typeface="Poppins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8800" y="4457700"/>
            <a:ext cx="2324100" cy="3048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Poppins"/>
              </a:rPr>
              <a:t>stale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7400" y="4540250"/>
            <a:ext cx="7493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5FB98C"/>
                </a:solidFill>
                <a:latin typeface="Poppins"/>
              </a:rPr>
              <a:t>100% </a:t>
            </a:r>
            <a:r>
              <a:rPr sz="1350" b="1">
                <a:solidFill>
                  <a:srgbClr val="5FB98C"/>
                </a:solidFill>
                <a:latin typeface="Poppins"/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300" y="4826000"/>
            <a:ext cx="2324100" cy="3048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Poppins"/>
              </a:rPr>
              <a:t>ideal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0900" y="4908550"/>
            <a:ext cx="7493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5FB98C"/>
                </a:solidFill>
                <a:latin typeface="Poppins"/>
              </a:rPr>
              <a:t>100% </a:t>
            </a:r>
            <a:r>
              <a:rPr sz="1350" b="1">
                <a:solidFill>
                  <a:srgbClr val="5FB98C"/>
                </a:solidFill>
                <a:latin typeface="Poppins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98800" y="4826000"/>
            <a:ext cx="2324100" cy="3048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Poppins"/>
              </a:rPr>
              <a:t>tie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7400" y="4908550"/>
            <a:ext cx="7493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5FB98C"/>
                </a:solidFill>
                <a:latin typeface="Poppins"/>
              </a:rPr>
              <a:t>100% </a:t>
            </a:r>
            <a:r>
              <a:rPr sz="1350" b="1">
                <a:solidFill>
                  <a:srgbClr val="5FB98C"/>
                </a:solidFill>
                <a:latin typeface="Poppins"/>
              </a:rP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300" y="5194300"/>
            <a:ext cx="2324100" cy="3048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Poppins"/>
              </a:rPr>
              <a:t>marginal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0900" y="5276850"/>
            <a:ext cx="7493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5FB98C"/>
                </a:solidFill>
                <a:latin typeface="Poppins"/>
              </a:rPr>
              <a:t>100% </a:t>
            </a:r>
            <a:r>
              <a:rPr sz="1350" b="1">
                <a:solidFill>
                  <a:srgbClr val="5FB98C"/>
                </a:solidFill>
                <a:latin typeface="Poppins"/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98800" y="5194300"/>
            <a:ext cx="2324100" cy="3048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Poppins"/>
              </a:rPr>
              <a:t>too-warm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7400" y="5276850"/>
            <a:ext cx="7493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5FB98C"/>
                </a:solidFill>
                <a:latin typeface="Poppins"/>
              </a:rPr>
              <a:t>100% </a:t>
            </a:r>
            <a:r>
              <a:rPr sz="1350" b="1">
                <a:solidFill>
                  <a:srgbClr val="5FB98C"/>
                </a:solidFill>
                <a:latin typeface="Poppin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300" y="5765800"/>
            <a:ext cx="4826000" cy="279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E8CAB"/>
                </a:solidFill>
                <a:latin typeface="Poppins"/>
              </a:rPr>
              <a:t>Oracle: BlueLiner's own deterministic scorer, parity-tested.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Poppins"/>
              </a:rPr>
              <a:t>Agreement = top pick is safe and in the oracle's best-rated tier.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