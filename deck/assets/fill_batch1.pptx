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381000"/>
            <a:ext cx="8509000" cy="76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800" b="1">
                <a:solidFill>
                  <a:srgbClr val="FFFFFF"/>
                </a:solidFill>
                <a:latin typeface="Poppins"/>
              </a:rPr>
              <a:t>Real Bug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301750"/>
            <a:ext cx="8509000" cy="355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0">
                <a:solidFill>
                  <a:srgbClr val="FFFFFF"/>
                </a:solidFill>
                <a:latin typeface="Poppins"/>
              </a:rPr>
              <a:t>A safety control that fails open is worse than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500" y="2235200"/>
            <a:ext cx="5549900" cy="330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>
                <a:solidFill>
                  <a:srgbClr val="FFFFFF"/>
                </a:solidFill>
                <a:latin typeface="Poppins"/>
              </a:rPr>
              <a:t>Safety Bypass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2832100"/>
            <a:ext cx="5549900" cy="76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C2C0D6"/>
                </a:solidFill>
                <a:latin typeface="Poppins"/>
              </a:rPr>
              <a:t>The model reformatted a river ID, the safety lookup missed it, and the veto was silently skipped. The guardrail failed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4025900"/>
            <a:ext cx="5549900" cy="330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>
                <a:solidFill>
                  <a:srgbClr val="FFFFFF"/>
                </a:solidFill>
                <a:latin typeface="Poppins"/>
              </a:rPr>
              <a:t>Canonicalization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4622800"/>
            <a:ext cx="5549900" cy="76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C2C0D6"/>
                </a:solidFill>
                <a:latin typeface="Poppins"/>
              </a:rPr>
              <a:t>Canonicalize every ID before the veto runs, plus a regression test that asserts blocked water stays blocked.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33000" y="381000"/>
            <a:ext cx="0" cy="6096000"/>
          </a:xfrm>
          <a:prstGeom prst="line">
            <a:avLst/>
          </a:prstGeom>
          <a:ln w="1270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1981200"/>
            <a:ext cx="3733800" cy="4216400"/>
          </a:xfrm>
          <a:prstGeom prst="roundRect">
            <a:avLst>
              <a:gd name="adj" fmla="val 3000"/>
            </a:avLst>
          </a:prstGeom>
          <a:solidFill>
            <a:srgbClr val="232239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2120900"/>
            <a:ext cx="38100" cy="39370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1900" y="2070100"/>
            <a:ext cx="34163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E8CAB"/>
                </a:solidFill>
                <a:latin typeface="Poppins"/>
              </a:rPr>
              <a:t>THE BUG, AND THE ONE-LINE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1900" y="2235200"/>
            <a:ext cx="34163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Roboto Mono"/>
              </a:rPr>
              <a:t>agent/guardrails.py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86500" y="2438400"/>
            <a:ext cx="3429000" cy="0"/>
          </a:xfrm>
          <a:prstGeom prst="line">
            <a:avLst/>
          </a:prstGeom>
          <a:ln w="1778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99200" y="2527300"/>
            <a:ext cx="34163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0685C"/>
                </a:solidFill>
                <a:latin typeface="Poppins"/>
              </a:rPr>
              <a:t>✗  </a:t>
            </a:r>
            <a:r>
              <a:rPr sz="1350" b="1">
                <a:solidFill>
                  <a:srgbClr val="E0685C"/>
                </a:solidFill>
                <a:latin typeface="Poppins"/>
              </a:rPr>
              <a:t>BEFORE — guardrail fails 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717800"/>
            <a:ext cx="3429000" cy="812800"/>
          </a:xfrm>
          <a:prstGeom prst="roundRect">
            <a:avLst>
              <a:gd name="adj" fmla="val 5000"/>
            </a:avLst>
          </a:prstGeom>
          <a:solidFill>
            <a:srgbClr val="1E1D33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63500" tIns="762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8E7F2"/>
                </a:solidFill>
                <a:latin typeface="Roboto Mono"/>
              </a:rPr>
              <a:t>ev = evidence.get(rec["river_id"])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Roboto Mono"/>
              </a:rPr>
              <a:t># model returns  "beaver_creek_md"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Roboto Mono"/>
              </a:rPr>
              <a:t># evidence key is "beaver-creek-md"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Roboto Mono"/>
              </a:rPr>
              <a:t># lookup </a:t>
            </a:r>
            <a:r>
              <a:rPr sz="1150" b="1">
                <a:solidFill>
                  <a:srgbClr val="E0685C"/>
                </a:solidFill>
                <a:latin typeface="Roboto Mono"/>
              </a:rPr>
              <a:t>MISSES</a:t>
            </a:r>
            <a:r>
              <a:rPr sz="1150" b="0">
                <a:solidFill>
                  <a:srgbClr val="8E8CAB"/>
                </a:solidFill>
                <a:latin typeface="Roboto Mono"/>
              </a:rPr>
              <a:t> -&gt; veto never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3644900"/>
            <a:ext cx="34163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5FB98C"/>
                </a:solidFill>
                <a:latin typeface="Poppins"/>
              </a:rPr>
              <a:t>✓  </a:t>
            </a:r>
            <a:r>
              <a:rPr sz="1350" b="1">
                <a:solidFill>
                  <a:srgbClr val="5FB98C"/>
                </a:solidFill>
                <a:latin typeface="Poppins"/>
              </a:rPr>
              <a:t>AFTER — veto always fires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835400"/>
            <a:ext cx="3429000" cy="952500"/>
          </a:xfrm>
          <a:prstGeom prst="roundRect">
            <a:avLst>
              <a:gd name="adj" fmla="val 5000"/>
            </a:avLst>
          </a:prstGeom>
          <a:solidFill>
            <a:srgbClr val="1E1D33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63500" tIns="762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8E7F2"/>
                </a:solidFill>
                <a:latin typeface="Roboto Mono"/>
              </a:rPr>
              <a:t>def _norm(rid):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E8E7F2"/>
                </a:solidFill>
                <a:latin typeface="Roboto Mono"/>
              </a:rPr>
              <a:t>    return (str(rid).strip().lower()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E8E7F2"/>
                </a:solidFill>
                <a:latin typeface="Roboto Mono"/>
              </a:rPr>
              <a:t>                   .replace("_","-"))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E8E7F2"/>
                </a:solidFill>
                <a:latin typeface="Roboto Mono"/>
              </a:rPr>
              <a:t>ev_index = {_norm(k): (k, v) ...}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Roboto Mono"/>
              </a:rPr>
              <a:t># canonical id </a:t>
            </a:r>
            <a:r>
              <a:rPr sz="1150" b="1">
                <a:solidFill>
                  <a:srgbClr val="5FB98C"/>
                </a:solidFill>
                <a:latin typeface="Roboto Mono"/>
              </a:rPr>
              <a:t>-&gt; guardrail matches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86500" y="4965700"/>
            <a:ext cx="3429000" cy="0"/>
          </a:xfrm>
          <a:prstGeom prst="line">
            <a:avLst/>
          </a:prstGeom>
          <a:ln w="1778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5080000"/>
            <a:ext cx="3429000" cy="457200"/>
          </a:xfrm>
          <a:prstGeom prst="roundRect">
            <a:avLst>
              <a:gd name="adj" fmla="val 8000"/>
            </a:avLst>
          </a:prstGeom>
          <a:solidFill>
            <a:srgbClr val="38365C"/>
          </a:solidFill>
          <a:ln w="1778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FB98C"/>
                </a:solidFill>
                <a:latin typeface="Poppins"/>
              </a:rPr>
              <a:t>✓  </a:t>
            </a:r>
            <a:r>
              <a:rPr sz="1250" b="0">
                <a:solidFill>
                  <a:srgbClr val="FFFFFF"/>
                </a:solidFill>
                <a:latin typeface="Poppins"/>
              </a:rPr>
              <a:t>regression test asserts blocked water stays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5689600"/>
            <a:ext cx="3429000" cy="254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a safety control that fails silently is worse than none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0800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Measuring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An honest evaluation of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715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An eval that refuses to flatter itself (MD, VA, and PA; 36,378 designated reaches).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Mask whole rivers by flow path, not random reaches. Otherwise discovery is just trivial segment in-painting (v1 scored a fake 0.999 AUC).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Hard-negative AUC: held-out trout versus only near-trout undesignated reaches. That's the honest, harder number.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Positive-unlabeled: unlabeled is not the same as negative, so recall is a lower bound. The eval undercounts wins by construction.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Finding: topology is a near-perfect lead generator, but the binding constraint, public access, is also the biggest data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52700"/>
            <a:ext cx="5156200" cy="35560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300" y="2654300"/>
            <a:ext cx="48387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DISCOVERY BACKTEST  ·  MD · VA · 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" y="2895600"/>
            <a:ext cx="2324100" cy="7620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2032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889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5FB98C"/>
                </a:solidFill>
                <a:latin typeface="Poppins"/>
              </a:rPr>
              <a:t>0.986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hard-neg AUC · topology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8E8CAB"/>
                </a:solidFill>
                <a:latin typeface="Poppins"/>
              </a:rPr>
              <a:t>ranks hidden trout above near-trout decoys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8800" y="2895600"/>
            <a:ext cx="2324100" cy="7620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20320">
            <a:solidFill>
              <a:srgbClr val="E2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63500" tIns="889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>
                <a:solidFill>
                  <a:srgbClr val="E2A24A"/>
                </a:solidFill>
                <a:latin typeface="Poppins"/>
              </a:rPr>
              <a:t>0.512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with public access enforced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8E8CAB"/>
                </a:solidFill>
                <a:latin typeface="Poppins"/>
              </a:rPr>
              <a:t>~ chance: the access data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3746500"/>
            <a:ext cx="48387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WHAT THE NUMBERS 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3898900"/>
            <a:ext cx="48006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C2C0D6"/>
                </a:solidFill>
                <a:latin typeface="Poppins"/>
              </a:rPr>
              <a:t>Topology alone separates held-out trout from near-trout decoys.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4064000"/>
            <a:ext cx="4800600" cy="330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C2C0D6"/>
                </a:solidFill>
                <a:latin typeface="Poppins"/>
              </a:rPr>
              <a:t>Demand verified public access and it falls to chance: the binding constraint is a data gap, not the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" y="4457700"/>
            <a:ext cx="4800600" cy="368300"/>
          </a:xfrm>
          <a:prstGeom prst="roundRect">
            <a:avLst>
              <a:gd name="adj" fmla="val 8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Poppins"/>
              </a:rPr>
              <a:t>Calibration: predicted confidence 0.6–0.8  →  </a:t>
            </a:r>
            <a:r>
              <a:rPr sz="1250" b="1">
                <a:solidFill>
                  <a:srgbClr val="5FB98C"/>
                </a:solidFill>
                <a:latin typeface="Poppins"/>
              </a:rPr>
              <a:t>53%</a:t>
            </a:r>
            <a:r>
              <a:rPr sz="1250" b="0">
                <a:solidFill>
                  <a:srgbClr val="C2C0D6"/>
                </a:solidFill>
                <a:latin typeface="Poppins"/>
              </a:rPr>
              <a:t> actual held-out hit-rate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2300" y="5003800"/>
            <a:ext cx="4800600" cy="0"/>
          </a:xfrm>
          <a:prstGeom prst="line">
            <a:avLst/>
          </a:prstGeom>
          <a:ln w="1778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2300" y="5092700"/>
            <a:ext cx="48387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405 held-out reaches across 204 whole rivers, masked by flow path (levelpathid).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" y="5245100"/>
            <a:ext cx="48387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Recall is a lower bound (positive-unlabeled); v1's 0.999 AUC was fake segment-adjacency.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0800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Prospector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How the Prospector ranks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715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Cheap deterministic ranking at scale; the LLM only where it adds value.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100K+ reaches ranked by topology proximity to known trout water (a geometry proxy), plus flow, thermal, and access signals.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Deterministic confidence; the LLM writes the rationale on the shortlist only.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A human-confirm interrupt with durable checkpointing is wired to feed a calibration flywheel as anglers confirm picks; it is proven on a captured resume trace and runs headless in the live demo. Deterministic ranks 60K reaches for free; the LLM touches only the top-K.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27300"/>
            <a:ext cx="5156200" cy="36576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" y="2628900"/>
            <a:ext cx="49022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PROSPECTOR  ·  LangGraph StateGraph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28575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651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Roboto Mono"/>
              </a:rPr>
              <a:t>generate_candidates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" y="32258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651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Roboto Mono"/>
              </a:rPr>
              <a:t>gather_evidence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600" y="35941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6510">
            <a:solidFill>
              <a:srgbClr val="C2C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Roboto Mono"/>
              </a:rPr>
              <a:t>infer_thermal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6400" y="3663950"/>
            <a:ext cx="25146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conditional branch · if ungauged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600" y="39624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651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Roboto Mono"/>
              </a:rPr>
              <a:t>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600" y="43307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651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Roboto Mono"/>
              </a:rPr>
              <a:t>reflect_verify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6400" y="4400550"/>
            <a:ext cx="25146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drops private / low-confidence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600" y="46990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2794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7DD85"/>
                </a:solidFill>
                <a:latin typeface="Roboto Mono"/>
              </a:rPr>
              <a:t>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6400" y="4768850"/>
            <a:ext cx="25146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7DD85"/>
                </a:solidFill>
                <a:latin typeface="Poppins"/>
              </a:rPr>
              <a:t>the only LLM call · writes rationale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600" y="50673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27940">
            <a:solidFill>
              <a:srgbClr val="A89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C5BEF2"/>
                </a:solidFill>
                <a:latin typeface="Roboto Mono"/>
              </a:rPr>
              <a:t>human_confirm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6400" y="5137150"/>
            <a:ext cx="25146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5BEF2"/>
                </a:solidFill>
                <a:latin typeface="Poppins"/>
              </a:rPr>
              <a:t>interrupt + durable checkpoint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600" y="5435600"/>
            <a:ext cx="2095500" cy="279400"/>
          </a:xfrm>
          <a:prstGeom prst="roundRect">
            <a:avLst>
              <a:gd name="adj" fmla="val 12000"/>
            </a:avLst>
          </a:prstGeom>
          <a:solidFill>
            <a:srgbClr val="232239"/>
          </a:solidFill>
          <a:ln w="1651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Roboto Mono"/>
              </a:rPr>
              <a:t>update_flywheel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6400" y="5505450"/>
            <a:ext cx="2514600" cy="1397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records confirm/deny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4350" y="31369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84350" y="35052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84350" y="38735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84350" y="42418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84350" y="46101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84350" y="49784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84350" y="5346700"/>
            <a:ext cx="0" cy="88900"/>
          </a:xfrm>
          <a:prstGeom prst="line">
            <a:avLst/>
          </a:prstGeom>
          <a:ln w="16510">
            <a:solidFill>
              <a:srgbClr val="5552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6900" y="5930900"/>
            <a:ext cx="49022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deterministic spine; the LLM touches only the top-K shortlist.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