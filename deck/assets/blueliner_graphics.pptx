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4500" y="228600"/>
            <a:ext cx="11303000" cy="444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200" b="1">
                <a:solidFill>
                  <a:srgbClr val="EAF2F6"/>
                </a:solidFill>
                <a:latin typeface="Poppins"/>
              </a:rPr>
              <a:t>Two Agents, One Trustworthy Spine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58750" y="838200"/>
            <a:ext cx="2540000" cy="190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6E8C9C"/>
                </a:solidFill>
                <a:latin typeface="Poppins"/>
              </a:rPr>
              <a:t>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32000" y="838200"/>
            <a:ext cx="2540000" cy="190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6E8C9C"/>
                </a:solidFill>
                <a:latin typeface="Poppins"/>
              </a:rPr>
              <a:t>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75250" y="838200"/>
            <a:ext cx="2540000" cy="190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6E8C9C"/>
                </a:solidFill>
                <a:latin typeface="Poppins"/>
              </a:rPr>
              <a:t>SHARED TRUSTWORTHY SPINE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838200"/>
            <a:ext cx="2540000" cy="190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6E8C9C"/>
                </a:solidFill>
                <a:latin typeface="Poppins"/>
              </a:rPr>
              <a:t>DATA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500" y="1143000"/>
            <a:ext cx="1460500" cy="9525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5400">
            <a:solidFill>
              <a:srgbClr val="5B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63500" tIns="508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95C5D9"/>
                </a:solidFill>
                <a:latin typeface="Poppins"/>
              </a:rPr>
              <a:t>Trip Planner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EAF2F6"/>
                </a:solidFill>
                <a:latin typeface="Poppins"/>
              </a:rPr>
              <a:t>“Where should I fish this weekend — and is it worth the drive?”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500" y="2984500"/>
            <a:ext cx="1460500" cy="9525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5400">
            <a:solidFill>
              <a:srgbClr val="7A3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63500" tIns="508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A878DA"/>
                </a:solidFill>
                <a:latin typeface="Poppins"/>
              </a:rPr>
              <a:t>Prospector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EAF2F6"/>
                </a:solidFill>
                <a:latin typeface="Poppins"/>
              </a:rPr>
              <a:t>“Find undesignated but fishable trout water”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59000" y="1143000"/>
            <a:ext cx="2667000" cy="13970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5400">
            <a:solidFill>
              <a:srgbClr val="5B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63500" tIns="508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95C5D9"/>
                </a:solidFill>
                <a:latin typeface="Poppins"/>
              </a:rPr>
              <a:t>Trip Planner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DB6C2"/>
                </a:solidFill>
                <a:latin typeface="Poppins"/>
              </a:rPr>
              <a:t>hand-written tool loop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EAF2F6"/>
                </a:solidFill>
                <a:latin typeface="Roboto Mono"/>
              </a:rPr>
              <a:t>Haiku → cheap, tool-heavy retrieval loop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AF2F6"/>
                </a:solidFill>
                <a:latin typeface="Roboto Mono"/>
              </a:rPr>
              <a:t>Sonnet → final ranking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56000" y="2209800"/>
            <a:ext cx="1066800" cy="190500"/>
          </a:xfrm>
          <a:prstGeom prst="roundRect">
            <a:avLst>
              <a:gd name="adj" fmla="val 50000"/>
            </a:avLst>
          </a:prstGeom>
          <a:solidFill>
            <a:srgbClr val="0C2535"/>
          </a:solidFill>
          <a:ln w="12700">
            <a:solidFill>
              <a:srgbClr val="5B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95C5D9"/>
                </a:solidFill>
                <a:latin typeface="Poppins"/>
              </a:rPr>
              <a:t>17 lines orchestration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59000" y="2857500"/>
            <a:ext cx="2667000" cy="15875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5400">
            <a:solidFill>
              <a:srgbClr val="7A3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63500" tIns="508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A878DA"/>
                </a:solidFill>
                <a:latin typeface="Poppins"/>
              </a:rPr>
              <a:t>Prospector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DB6C2"/>
                </a:solidFill>
                <a:latin typeface="Poppins"/>
              </a:rPr>
              <a:t>LangGraph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EAF2F6"/>
                </a:solidFill>
                <a:latin typeface="Poppins"/>
              </a:rPr>
              <a:t>branching state machine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EAF2F6"/>
                </a:solidFill>
                <a:latin typeface="Poppins"/>
              </a:rPr>
              <a:t>human-in-the-loop confirm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AF2F6"/>
                </a:solidFill>
                <a:latin typeface="Poppins"/>
              </a:rPr>
              <a:t>durable checkpoints · interrupt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56000" y="4114800"/>
            <a:ext cx="952500" cy="190500"/>
          </a:xfrm>
          <a:prstGeom prst="roundRect">
            <a:avLst>
              <a:gd name="adj" fmla="val 50000"/>
            </a:avLst>
          </a:prstGeom>
          <a:solidFill>
            <a:srgbClr val="0C2535"/>
          </a:solidFill>
          <a:ln w="12700">
            <a:solidFill>
              <a:srgbClr val="7A3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A878DA"/>
                </a:solidFill>
                <a:latin typeface="Poppins"/>
              </a:rPr>
              <a:t>38 lines (2.2×)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0000" y="1066800"/>
            <a:ext cx="2730500" cy="4597400"/>
          </a:xfrm>
          <a:prstGeom prst="roundRect">
            <a:avLst>
              <a:gd name="adj" fmla="val 4000"/>
            </a:avLst>
          </a:prstGeom>
          <a:solidFill>
            <a:srgbClr val="0E3144"/>
          </a:solidFill>
          <a:ln w="25400">
            <a:solidFill>
              <a:srgbClr val="5B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07000" y="1257300"/>
            <a:ext cx="2476500" cy="5842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5400">
            <a:solidFill>
              <a:srgbClr val="5B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63500" tIns="508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EAF2F6"/>
                </a:solidFill>
                <a:latin typeface="Poppins"/>
              </a:rPr>
              <a:t>MCP tool belt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9DB6C2"/>
                </a:solidFill>
                <a:latin typeface="Poppins"/>
              </a:rPr>
              <a:t>conditions · gauges · 30-yr medians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9DB6C2"/>
                </a:solidFill>
                <a:latin typeface="Poppins"/>
              </a:rPr>
              <a:t>trout designations · access · catch-log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1500" y="1308100"/>
            <a:ext cx="749300" cy="127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95C5D9"/>
                </a:solidFill>
                <a:latin typeface="Poppins"/>
              </a:rPr>
              <a:t>retrieval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07000" y="1981200"/>
            <a:ext cx="2476500" cy="711200"/>
          </a:xfrm>
          <a:prstGeom prst="roundRect">
            <a:avLst>
              <a:gd name="adj" fmla="val 8000"/>
            </a:avLst>
          </a:prstGeom>
          <a:solidFill>
            <a:srgbClr val="143A50"/>
          </a:solidFill>
          <a:ln w="38100">
            <a:solidFill>
              <a:srgbClr val="4A8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63500" tIns="508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EAF2F6"/>
                </a:solidFill>
                <a:latin typeface="Poppins"/>
              </a:rPr>
              <a:t>Deterministic scorer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9DB6C2"/>
                </a:solidFill>
                <a:latin typeface="Poppins"/>
              </a:rPr>
              <a:t>single source of truth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9DB6C2"/>
                </a:solidFill>
                <a:latin typeface="Poppins"/>
              </a:rPr>
              <a:t>water-temp band + flow-vs-median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7FBE8E"/>
                </a:solidFill>
                <a:latin typeface="Poppins"/>
              </a:rPr>
              <a:t>parity-tested 840 cases against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1500" y="2032000"/>
            <a:ext cx="749300" cy="127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7FBE8E"/>
                </a:solidFill>
                <a:latin typeface="Poppins"/>
              </a:rPr>
              <a:t>the oracle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07000" y="2832100"/>
            <a:ext cx="2476500" cy="5842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5400">
            <a:solidFill>
              <a:srgbClr val="B78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63500" tIns="508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EAF2F6"/>
                </a:solidFill>
                <a:latin typeface="Poppins"/>
              </a:rPr>
              <a:t>Grounding contract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9DB6C2"/>
                </a:solidFill>
                <a:latin typeface="Poppins"/>
              </a:rPr>
              <a:t>every number must trace to a tool result 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9DB6C2"/>
                </a:solidFill>
                <a:latin typeface="Poppins"/>
              </a:rPr>
              <a:t>else regenerate once, then strip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07000" y="3556000"/>
            <a:ext cx="2476500" cy="7874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5400">
            <a:solidFill>
              <a:srgbClr val="B34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63500" tIns="508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EAF2F6"/>
                </a:solidFill>
                <a:latin typeface="Poppins"/>
              </a:rPr>
              <a:t>Guardrail veto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9DB6C2"/>
                </a:solidFill>
                <a:latin typeface="Poppins"/>
              </a:rPr>
              <a:t>flood (flow &gt;3× median) · trout-ethics temp band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9DB6C2"/>
                </a:solidFill>
                <a:latin typeface="Poppins"/>
              </a:rPr>
              <a:t>private-access block · staleness demotion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E0A59B"/>
                </a:solidFill>
                <a:latin typeface="Poppins"/>
              </a:rPr>
              <a:t>IDs canonicalized before the veto — the bug 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1500" y="3606800"/>
            <a:ext cx="749300" cy="127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E0A59B"/>
                </a:solidFill>
                <a:latin typeface="Poppins"/>
              </a:rPr>
              <a:t>rules 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7000" y="4445000"/>
            <a:ext cx="24765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95C5D9"/>
                </a:solidFill>
                <a:latin typeface="Poppins"/>
              </a:rPr>
              <a:t>the model advises · the rules decide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45250" y="1841500"/>
            <a:ext cx="0" cy="139700"/>
          </a:xfrm>
          <a:prstGeom prst="line">
            <a:avLst/>
          </a:prstGeom>
          <a:ln w="25400">
            <a:solidFill>
              <a:srgbClr val="9DB6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445250" y="2692400"/>
            <a:ext cx="0" cy="139700"/>
          </a:xfrm>
          <a:prstGeom prst="line">
            <a:avLst/>
          </a:prstGeom>
          <a:ln w="25400">
            <a:solidFill>
              <a:srgbClr val="9DB6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445250" y="3416300"/>
            <a:ext cx="0" cy="139700"/>
          </a:xfrm>
          <a:prstGeom prst="line">
            <a:avLst/>
          </a:prstGeom>
          <a:ln w="25400">
            <a:solidFill>
              <a:srgbClr val="9DB6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064500" y="1143000"/>
            <a:ext cx="1587500" cy="5080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17780">
            <a:solidFill>
              <a:srgbClr val="3E5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63500" tIns="508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EAF2F6"/>
                </a:solidFill>
                <a:latin typeface="Poppins"/>
              </a:rPr>
              <a:t>USGS NWIS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950" b="0">
                <a:solidFill>
                  <a:srgbClr val="9DB6C2"/>
                </a:solidFill>
                <a:latin typeface="Poppins"/>
              </a:rPr>
              <a:t>flow + temp · IV + 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06000" y="1143000"/>
            <a:ext cx="1587500" cy="5080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17780">
            <a:solidFill>
              <a:srgbClr val="3E5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63500" tIns="508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EAF2F6"/>
                </a:solidFill>
                <a:latin typeface="Poppins"/>
              </a:rPr>
              <a:t>USGS NLDI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950" b="0">
                <a:solidFill>
                  <a:srgbClr val="9DB6C2"/>
                </a:solidFill>
                <a:latin typeface="Poppins"/>
              </a:rPr>
              <a:t>topology · COMID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4500" y="1727200"/>
            <a:ext cx="1587500" cy="5080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17780">
            <a:solidFill>
              <a:srgbClr val="3E5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63500" tIns="508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EAF2F6"/>
                </a:solidFill>
                <a:latin typeface="Poppins"/>
              </a:rPr>
              <a:t>NOAA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950" b="0">
                <a:solidFill>
                  <a:srgbClr val="9DB6C2"/>
                </a:solidFill>
                <a:latin typeface="Poppins"/>
              </a:rPr>
              <a:t>weather enrichment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6000" y="1727200"/>
            <a:ext cx="1587500" cy="5080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17780">
            <a:solidFill>
              <a:srgbClr val="3E5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63500" tIns="508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EAF2F6"/>
                </a:solidFill>
                <a:latin typeface="Poppins"/>
              </a:rPr>
              <a:t>State ArcGIS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950" b="0">
                <a:solidFill>
                  <a:srgbClr val="9DB6C2"/>
                </a:solidFill>
                <a:latin typeface="Poppins"/>
              </a:rPr>
              <a:t>trout designations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4500" y="2311400"/>
            <a:ext cx="1587500" cy="5080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17780">
            <a:solidFill>
              <a:srgbClr val="3E5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63500" tIns="508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EAF2F6"/>
                </a:solidFill>
                <a:latin typeface="Poppins"/>
              </a:rPr>
              <a:t>PAD-US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950" b="0">
                <a:solidFill>
                  <a:srgbClr val="9DB6C2"/>
                </a:solidFill>
                <a:latin typeface="Poppins"/>
              </a:rPr>
              <a:t>public access / lands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06000" y="2311400"/>
            <a:ext cx="1587500" cy="5080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17780">
            <a:solidFill>
              <a:srgbClr val="3E5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63500" tIns="508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EAF2F6"/>
                </a:solidFill>
                <a:latin typeface="Poppins"/>
              </a:rPr>
              <a:t>Postgres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950" b="0">
                <a:solidFill>
                  <a:srgbClr val="9DB6C2"/>
                </a:solidFill>
                <a:latin typeface="Poppins"/>
              </a:rPr>
              <a:t>catch-log memory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7696200" y="1428750"/>
            <a:ext cx="368300" cy="158750"/>
          </a:xfrm>
          <a:prstGeom prst="line">
            <a:avLst/>
          </a:prstGeom>
          <a:ln w="27940">
            <a:solidFill>
              <a:srgbClr val="5BA8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112000" y="1473200"/>
            <a:ext cx="571500" cy="1143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95C5D9"/>
                </a:solidFill>
                <a:latin typeface="Poppins"/>
              </a:rPr>
              <a:t>fetch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8000" y="2870200"/>
            <a:ext cx="19050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6E8C9C"/>
                </a:solidFill>
                <a:latin typeface="Poppins"/>
              </a:rPr>
              <a:t>OUTPUT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4500" y="3035300"/>
            <a:ext cx="1651000" cy="13335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17780">
            <a:solidFill>
              <a:srgbClr val="3E5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AF2F6"/>
                </a:solidFill>
                <a:latin typeface="Poppins"/>
              </a:rPr>
              <a:t>Delivered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DB6C2"/>
                </a:solidFill>
                <a:latin typeface="Poppins"/>
              </a:rPr>
              <a:t>ranked recommendations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DB6C2"/>
                </a:solidFill>
                <a:latin typeface="Poppins"/>
              </a:rPr>
              <a:t>+ grounded citations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DB6C2"/>
                </a:solidFill>
                <a:latin typeface="Poppins"/>
              </a:rPr>
              <a:t>+ guardrail verdicts</a:t>
            </a:r>
          </a:p>
          <a:p>
            <a:pPr algn="ctr">
              <a:lnSpc>
                <a:spcPct val="105000"/>
              </a:lnSpc>
              <a:spcBef>
                <a:spcPts val="600"/>
              </a:spcBef>
              <a:spcAft>
                <a:spcPts val="100"/>
              </a:spcAft>
            </a:pPr>
            <a:r>
              <a:rPr sz="950" b="0">
                <a:solidFill>
                  <a:srgbClr val="6E8C9C"/>
                </a:solidFill>
                <a:latin typeface="Poppins"/>
              </a:rPr>
              <a:t>rendered on the map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06000" y="3035300"/>
            <a:ext cx="1841500" cy="6350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5400">
            <a:solidFill>
              <a:srgbClr val="4A8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000" b="1">
                <a:solidFill>
                  <a:srgbClr val="7FBE8E"/>
                </a:solidFill>
                <a:latin typeface="Poppins"/>
              </a:rPr>
              <a:t>$0.02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9DB6C2"/>
                </a:solidFill>
                <a:latin typeface="Poppins"/>
              </a:rPr>
              <a:t>per decision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06000" y="3733800"/>
            <a:ext cx="1841500" cy="6350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5400">
            <a:solidFill>
              <a:srgbClr val="5B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700" b="1">
                <a:solidFill>
                  <a:srgbClr val="95C5D9"/>
                </a:solidFill>
                <a:latin typeface="Poppins"/>
              </a:rPr>
              <a:t>17–18 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9DB6C2"/>
                </a:solidFill>
                <a:latin typeface="Poppins"/>
              </a:rPr>
              <a:t>end-to-end latency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905000" y="1587500"/>
            <a:ext cx="241300" cy="0"/>
          </a:xfrm>
          <a:prstGeom prst="line">
            <a:avLst/>
          </a:prstGeom>
          <a:ln w="27940">
            <a:solidFill>
              <a:srgbClr val="5BA8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905000" y="3429000"/>
            <a:ext cx="241300" cy="0"/>
          </a:xfrm>
          <a:prstGeom prst="line">
            <a:avLst/>
          </a:prstGeom>
          <a:ln w="27940">
            <a:solidFill>
              <a:srgbClr val="7A3D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826000" y="1651000"/>
            <a:ext cx="241300" cy="190500"/>
          </a:xfrm>
          <a:prstGeom prst="line">
            <a:avLst/>
          </a:prstGeom>
          <a:ln w="27940">
            <a:solidFill>
              <a:srgbClr val="5BA8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826000" y="2794000"/>
            <a:ext cx="241300" cy="635000"/>
          </a:xfrm>
          <a:prstGeom prst="line">
            <a:avLst/>
          </a:prstGeom>
          <a:ln w="27940">
            <a:solidFill>
              <a:srgbClr val="7A3D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810500" y="3683000"/>
            <a:ext cx="241300" cy="254000"/>
          </a:xfrm>
          <a:prstGeom prst="line">
            <a:avLst/>
          </a:prstGeom>
          <a:ln w="30480">
            <a:solidFill>
              <a:srgbClr val="B347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44500" y="5740400"/>
            <a:ext cx="11303000" cy="749300"/>
          </a:xfrm>
          <a:prstGeom prst="roundRect">
            <a:avLst>
              <a:gd name="adj" fmla="val 4000"/>
            </a:avLst>
          </a:prstGeom>
          <a:solidFill>
            <a:srgbClr val="0C2535"/>
          </a:solidFill>
          <a:ln w="20320">
            <a:solidFill>
              <a:srgbClr val="5BA8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4200" y="5816600"/>
            <a:ext cx="57150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95C5D9"/>
                </a:solidFill>
                <a:latin typeface="Poppins"/>
              </a:rPr>
              <a:t>OFFLINE EVAL HARNESS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007100"/>
            <a:ext cx="10795000" cy="317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9DB6C2"/>
                </a:solidFill>
                <a:latin typeface="Poppins"/>
              </a:rPr>
              <a:t>Planner — 25 scenarios: ideal · flood · too-warm · private · stale · adversarial · memory · ties · all-blocked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950" b="0">
                <a:solidFill>
                  <a:srgbClr val="9DB6C2"/>
                </a:solidFill>
                <a:latin typeface="Poppins"/>
              </a:rPr>
              <a:t>Discovery — flow-path masking · hard-negative AUC · positive-unlabeled (recall = lower bound)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05500" y="5816600"/>
            <a:ext cx="40640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7FBE8E"/>
                </a:solidFill>
                <a:latin typeface="Poppins"/>
              </a:rPr>
              <a:t>↑ the scorer here is the eval oracle — same code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5156200" y="2692400"/>
            <a:ext cx="25400" cy="3048000"/>
          </a:xfrm>
          <a:prstGeom prst="line">
            <a:avLst/>
          </a:prstGeom>
          <a:ln w="22860">
            <a:solidFill>
              <a:srgbClr val="7FBE8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556000" y="6604000"/>
            <a:ext cx="101600" cy="101600"/>
          </a:xfrm>
          <a:prstGeom prst="roundRect">
            <a:avLst>
              <a:gd name="adj" fmla="val 30000"/>
            </a:avLst>
          </a:prstGeom>
          <a:solidFill>
            <a:srgbClr val="5BA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5700" y="6584950"/>
            <a:ext cx="11430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9DB6C2"/>
                </a:solidFill>
                <a:latin typeface="Poppins"/>
              </a:rPr>
              <a:t>Trip Planner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43400" y="6604000"/>
            <a:ext cx="101600" cy="101600"/>
          </a:xfrm>
          <a:prstGeom prst="roundRect">
            <a:avLst>
              <a:gd name="adj" fmla="val 30000"/>
            </a:avLst>
          </a:prstGeom>
          <a:solidFill>
            <a:srgbClr val="7A3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83100" y="6584950"/>
            <a:ext cx="11430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9DB6C2"/>
                </a:solidFill>
                <a:latin typeface="Poppins"/>
              </a:rPr>
              <a:t>Prospector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41900" y="6604000"/>
            <a:ext cx="101600" cy="101600"/>
          </a:xfrm>
          <a:prstGeom prst="roundRect">
            <a:avLst>
              <a:gd name="adj" fmla="val 30000"/>
            </a:avLst>
          </a:prstGeom>
          <a:solidFill>
            <a:srgbClr val="4A8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81600" y="6584950"/>
            <a:ext cx="11430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9DB6C2"/>
                </a:solidFill>
                <a:latin typeface="Poppins"/>
              </a:rPr>
              <a:t>trusted / oracle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07100" y="6604000"/>
            <a:ext cx="101600" cy="101600"/>
          </a:xfrm>
          <a:prstGeom prst="roundRect">
            <a:avLst>
              <a:gd name="adj" fmla="val 30000"/>
            </a:avLst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46800" y="6584950"/>
            <a:ext cx="11430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9DB6C2"/>
                </a:solidFill>
                <a:latin typeface="Poppins"/>
              </a:rPr>
              <a:t>grounding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661150" y="6604000"/>
            <a:ext cx="101600" cy="101600"/>
          </a:xfrm>
          <a:prstGeom prst="roundRect">
            <a:avLst>
              <a:gd name="adj" fmla="val 30000"/>
            </a:avLst>
          </a:prstGeom>
          <a:solidFill>
            <a:srgbClr val="B3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00850" y="6584950"/>
            <a:ext cx="11430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9DB6C2"/>
                </a:solidFill>
                <a:latin typeface="Poppins"/>
              </a:rPr>
              <a:t>guardrail / block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4500" y="228600"/>
            <a:ext cx="11303000" cy="317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200" b="1">
                <a:solidFill>
                  <a:srgbClr val="EAF2F6"/>
                </a:solidFill>
                <a:latin typeface="Poppins"/>
              </a:rPr>
              <a:t>Trip Planner: The v0 → v3 Staircase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" y="609600"/>
            <a:ext cx="11303000" cy="254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9DB6C2"/>
                </a:solidFill>
                <a:latin typeface="Poppins"/>
              </a:rPr>
              <a:t>Grounding + guardrails turn a confident liar into a trustworthy assistant (25 scenarios)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40000" y="1079500"/>
            <a:ext cx="2187575" cy="6604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5400">
            <a:solidFill>
              <a:srgbClr val="B34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000" b="1">
                <a:solidFill>
                  <a:srgbClr val="B3473B"/>
                </a:solidFill>
                <a:latin typeface="Poppins"/>
              </a:rPr>
              <a:t>v0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9DB6C2"/>
                </a:solidFill>
                <a:latin typeface="Poppins"/>
              </a:rPr>
              <a:t>naive prompt, no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1875" y="1079500"/>
            <a:ext cx="2187575" cy="6604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5400">
            <a:solidFill>
              <a:srgbClr val="5B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000" b="1">
                <a:solidFill>
                  <a:srgbClr val="5BA8C8"/>
                </a:solidFill>
                <a:latin typeface="Poppins"/>
              </a:rPr>
              <a:t>v1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9DB6C2"/>
                </a:solidFill>
                <a:latin typeface="Poppins"/>
              </a:rPr>
              <a:t>tool-grounded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43750" y="1079500"/>
            <a:ext cx="2187575" cy="6604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5400">
            <a:solidFill>
              <a:srgbClr val="B78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000" b="1">
                <a:solidFill>
                  <a:srgbClr val="B7892F"/>
                </a:solidFill>
                <a:latin typeface="Poppins"/>
              </a:rPr>
              <a:t>v2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9DB6C2"/>
                </a:solidFill>
                <a:latin typeface="Poppins"/>
              </a:rPr>
              <a:t>+ catch-log 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45625" y="1079500"/>
            <a:ext cx="2187575" cy="660400"/>
          </a:xfrm>
          <a:prstGeom prst="roundRect">
            <a:avLst>
              <a:gd name="adj" fmla="val 8000"/>
            </a:avLst>
          </a:prstGeom>
          <a:solidFill>
            <a:srgbClr val="143A50"/>
          </a:solidFill>
          <a:ln w="38100">
            <a:solidFill>
              <a:srgbClr val="4A8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000" b="1">
                <a:solidFill>
                  <a:srgbClr val="4A8C5C"/>
                </a:solidFill>
                <a:latin typeface="Poppins"/>
              </a:rPr>
              <a:t>v3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AF2F6"/>
                </a:solidFill>
                <a:latin typeface="Poppins"/>
              </a:rPr>
              <a:t>+ guardrails &amp; grounding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500" y="1879600"/>
            <a:ext cx="2032000" cy="9525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>
                <a:solidFill>
                  <a:srgbClr val="EAF2F6"/>
                </a:solidFill>
                <a:latin typeface="Poppins"/>
              </a:rPr>
              <a:t>Recommendation agreement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6E8C9C"/>
                </a:solidFill>
                <a:latin typeface="Poppins"/>
              </a:rPr>
              <a:t>higher is better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40000" y="1879600"/>
            <a:ext cx="2187575" cy="9525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0320">
            <a:solidFill>
              <a:srgbClr val="B34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B3473B"/>
                </a:solidFill>
                <a:latin typeface="Poppins"/>
              </a:rPr>
              <a:t>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1875" y="1879600"/>
            <a:ext cx="2187575" cy="9525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0320">
            <a:solidFill>
              <a:srgbClr val="4A8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4A8C5C"/>
                </a:solidFill>
                <a:latin typeface="Poppins"/>
              </a:rPr>
              <a:t>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43750" y="1879600"/>
            <a:ext cx="2187575" cy="9525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0320">
            <a:solidFill>
              <a:srgbClr val="4A8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4A8C5C"/>
                </a:solidFill>
                <a:latin typeface="Poppins"/>
              </a:rPr>
              <a:t>100%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45625" y="1879600"/>
            <a:ext cx="2187575" cy="9525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33020">
            <a:solidFill>
              <a:srgbClr val="4A8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4A8C5C"/>
                </a:solidFill>
                <a:latin typeface="Poppins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500" y="2921000"/>
            <a:ext cx="2032000" cy="9525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>
                <a:solidFill>
                  <a:srgbClr val="EAF2F6"/>
                </a:solidFill>
                <a:latin typeface="Poppins"/>
              </a:rPr>
              <a:t>Safety violations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6E8C9C"/>
                </a:solidFill>
                <a:latin typeface="Poppins"/>
              </a:rPr>
              <a:t>lower is better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40000" y="2921000"/>
            <a:ext cx="2187575" cy="9525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0320">
            <a:solidFill>
              <a:srgbClr val="B34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B3473B"/>
                </a:solidFill>
                <a:latin typeface="Poppins"/>
              </a:rPr>
              <a:t>16%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1875" y="2921000"/>
            <a:ext cx="2187575" cy="9525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0320">
            <a:solidFill>
              <a:srgbClr val="4A8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4A8C5C"/>
                </a:solidFill>
                <a:latin typeface="Poppins"/>
              </a:rPr>
              <a:t>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43750" y="2921000"/>
            <a:ext cx="2187575" cy="9525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0320">
            <a:solidFill>
              <a:srgbClr val="4A8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4A8C5C"/>
                </a:solidFill>
                <a:latin typeface="Poppins"/>
              </a:rPr>
              <a:t>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45625" y="2921000"/>
            <a:ext cx="2187575" cy="9525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33020">
            <a:solidFill>
              <a:srgbClr val="4A8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4A8C5C"/>
                </a:solidFill>
                <a:latin typeface="Poppins"/>
              </a:rPr>
              <a:t>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500" y="3962400"/>
            <a:ext cx="2032000" cy="9525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>
                <a:solidFill>
                  <a:srgbClr val="EAF2F6"/>
                </a:solidFill>
                <a:latin typeface="Poppins"/>
              </a:rPr>
              <a:t>Hallucinated readings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6E8C9C"/>
                </a:solidFill>
                <a:latin typeface="Poppins"/>
              </a:rPr>
              <a:t>lower is better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40000" y="3962400"/>
            <a:ext cx="2187575" cy="9525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0320">
            <a:solidFill>
              <a:srgbClr val="B34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B3473B"/>
                </a:solidFill>
                <a:latin typeface="Poppins"/>
              </a:rPr>
              <a:t>100%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1875" y="3962400"/>
            <a:ext cx="2187575" cy="9525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0320">
            <a:solidFill>
              <a:srgbClr val="B78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B7892F"/>
                </a:solidFill>
                <a:latin typeface="Poppins"/>
              </a:rPr>
              <a:t>4%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43750" y="3962400"/>
            <a:ext cx="2187575" cy="9525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20320">
            <a:solidFill>
              <a:srgbClr val="B78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B7892F"/>
                </a:solidFill>
                <a:latin typeface="Poppins"/>
              </a:rPr>
              <a:t>12%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45625" y="3962400"/>
            <a:ext cx="2187575" cy="952500"/>
          </a:xfrm>
          <a:prstGeom prst="roundRect">
            <a:avLst>
              <a:gd name="adj" fmla="val 8000"/>
            </a:avLst>
          </a:prstGeom>
          <a:solidFill>
            <a:srgbClr val="102E41"/>
          </a:solidFill>
          <a:ln w="33020">
            <a:solidFill>
              <a:srgbClr val="4A8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4A8C5C"/>
                </a:solidFill>
                <a:latin typeface="Poppins"/>
              </a:rPr>
              <a:t>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500" y="6375400"/>
            <a:ext cx="11303000" cy="190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9DB6C2"/>
                </a:solidFill>
                <a:latin typeface="Poppins"/>
              </a:rPr>
              <a:t>v2’s hallucination bump (4% → 12%) is real — memory added unsourced numbers; the v3 grounding contract drove it to 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4500" y="228600"/>
            <a:ext cx="11303000" cy="317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200" b="1">
                <a:solidFill>
                  <a:srgbClr val="EAF2F6"/>
                </a:solidFill>
                <a:latin typeface="Poppins"/>
              </a:rPr>
              <a:t>Engineering Judgment: Right Tool for the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" y="952500"/>
            <a:ext cx="11303000" cy="190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6E8C9C"/>
                </a:solidFill>
                <a:latin typeface="Poppins"/>
              </a:rPr>
              <a:t>SAME v3 PLANNER · 25 SCENARIOS · ONLY ORCHESTRATION 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270000"/>
            <a:ext cx="3556000" cy="2667000"/>
          </a:xfrm>
          <a:prstGeom prst="roundRect">
            <a:avLst>
              <a:gd name="adj" fmla="val 5000"/>
            </a:avLst>
          </a:prstGeom>
          <a:solidFill>
            <a:srgbClr val="102E41"/>
          </a:solidFill>
          <a:ln w="30480">
            <a:solidFill>
              <a:srgbClr val="5B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447800"/>
            <a:ext cx="3556000" cy="317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95C5D9"/>
                </a:solidFill>
                <a:latin typeface="Poppins"/>
              </a:rPr>
              <a:t>Hand-written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54200"/>
            <a:ext cx="3556000" cy="571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6000" b="1">
                <a:solidFill>
                  <a:srgbClr val="7FBE8E"/>
                </a:solidFill>
                <a:latin typeface="Poppins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463800"/>
            <a:ext cx="3556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9DB6C2"/>
                </a:solidFill>
                <a:latin typeface="Poppins"/>
              </a:rPr>
              <a:t>scenario quality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3500" y="2743200"/>
            <a:ext cx="2921000" cy="0"/>
          </a:xfrm>
          <a:prstGeom prst="line">
            <a:avLst/>
          </a:prstGeom>
          <a:ln w="17780">
            <a:solidFill>
              <a:srgbClr val="3E5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0" y="2844800"/>
            <a:ext cx="3556000" cy="508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5200" b="1">
                <a:solidFill>
                  <a:srgbClr val="95C5D9"/>
                </a:solidFill>
                <a:latin typeface="Roboto Mono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429000"/>
            <a:ext cx="3556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9DB6C2"/>
                </a:solidFill>
                <a:latin typeface="Poppins"/>
              </a:rPr>
              <a:t>lines of orchestration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0750" y="3632200"/>
            <a:ext cx="1206500" cy="203200"/>
          </a:xfrm>
          <a:prstGeom prst="roundRect">
            <a:avLst>
              <a:gd name="adj" fmla="val 50000"/>
            </a:avLst>
          </a:prstGeom>
          <a:solidFill>
            <a:srgbClr val="0C2535"/>
          </a:solidFill>
          <a:ln w="12700">
            <a:solidFill>
              <a:srgbClr val="5B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95C5D9"/>
                </a:solidFill>
                <a:latin typeface="Poppins"/>
              </a:rPr>
              <a:t>linear planner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3500" y="1270000"/>
            <a:ext cx="3556000" cy="2667000"/>
          </a:xfrm>
          <a:prstGeom prst="roundRect">
            <a:avLst>
              <a:gd name="adj" fmla="val 5000"/>
            </a:avLst>
          </a:prstGeom>
          <a:solidFill>
            <a:srgbClr val="102E41"/>
          </a:solidFill>
          <a:ln w="30480">
            <a:solidFill>
              <a:srgbClr val="7A3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3500" y="1447800"/>
            <a:ext cx="3556000" cy="317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A878DA"/>
                </a:solidFill>
                <a:latin typeface="Poppins"/>
              </a:rPr>
              <a:t>LangGraph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3500" y="1854200"/>
            <a:ext cx="3556000" cy="571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6000" b="1">
                <a:solidFill>
                  <a:srgbClr val="7FBE8E"/>
                </a:solidFill>
                <a:latin typeface="Poppins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3500" y="2463800"/>
            <a:ext cx="3556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9DB6C2"/>
                </a:solidFill>
                <a:latin typeface="Poppins"/>
              </a:rPr>
              <a:t>scenario quality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31000" y="2743200"/>
            <a:ext cx="2921000" cy="0"/>
          </a:xfrm>
          <a:prstGeom prst="line">
            <a:avLst/>
          </a:prstGeom>
          <a:ln w="17780">
            <a:solidFill>
              <a:srgbClr val="3E5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13500" y="2844800"/>
            <a:ext cx="3556000" cy="508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5200" b="1">
                <a:solidFill>
                  <a:srgbClr val="A878DA"/>
                </a:solidFill>
                <a:latin typeface="Roboto Mono"/>
              </a:rPr>
              <a:t>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3500" y="3429000"/>
            <a:ext cx="3556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9DB6C2"/>
                </a:solidFill>
                <a:latin typeface="Poppins"/>
              </a:rPr>
              <a:t>lines (2.2×)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8250" y="3632200"/>
            <a:ext cx="1206500" cy="203200"/>
          </a:xfrm>
          <a:prstGeom prst="roundRect">
            <a:avLst>
              <a:gd name="adj" fmla="val 50000"/>
            </a:avLst>
          </a:prstGeom>
          <a:solidFill>
            <a:srgbClr val="0C2535"/>
          </a:solidFill>
          <a:ln w="12700">
            <a:solidFill>
              <a:srgbClr val="7A3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A878DA"/>
                </a:solidFill>
                <a:latin typeface="Poppins"/>
              </a:rPr>
              <a:t>branching + HITL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0" y="1841500"/>
            <a:ext cx="508000" cy="381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9DB6C2"/>
                </a:solidFill>
                <a:latin typeface="Poppins"/>
              </a:rPr>
              <a:t>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0" y="2870200"/>
            <a:ext cx="508000" cy="254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9DB6C2"/>
                </a:solidFill>
                <a:latin typeface="Poppins"/>
              </a:rPr>
              <a:t>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4216400"/>
            <a:ext cx="7683500" cy="2159000"/>
          </a:xfrm>
          <a:prstGeom prst="roundRect">
            <a:avLst>
              <a:gd name="adj" fmla="val 4000"/>
            </a:avLst>
          </a:prstGeom>
          <a:solidFill>
            <a:srgbClr val="0C2535"/>
          </a:solidFill>
          <a:ln w="19050">
            <a:solidFill>
              <a:srgbClr val="3E5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63500" tIns="508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AF2F6"/>
                </a:solidFill>
                <a:latin typeface="Poppins"/>
              </a:rPr>
              <a:t>Decision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9DB6C2"/>
                </a:solidFill>
                <a:latin typeface="Poppins"/>
              </a:rPr>
              <a:t>Hand-loop for the linear Trip Planner — less code, fully legible.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9DB6C2"/>
                </a:solidFill>
                <a:latin typeface="Poppins"/>
              </a:rPr>
              <a:t>LangGraph for the branching, human-in-the-loop Prospector — where interrupt + durable checkpoints actually earn their cost.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95C5D9"/>
                </a:solidFill>
                <a:latin typeface="Poppins"/>
              </a:rPr>
              <a:t>Frameworks are not a quality lever — claiming so would be a confound.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